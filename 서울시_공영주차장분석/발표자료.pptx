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0" r:id="rId2"/>
    <p:sldId id="263" r:id="rId3"/>
    <p:sldId id="321" r:id="rId4"/>
    <p:sldId id="287" r:id="rId5"/>
    <p:sldId id="322" r:id="rId6"/>
    <p:sldId id="301" r:id="rId7"/>
    <p:sldId id="302" r:id="rId8"/>
    <p:sldId id="323" r:id="rId9"/>
    <p:sldId id="307" r:id="rId10"/>
    <p:sldId id="303" r:id="rId11"/>
    <p:sldId id="308" r:id="rId12"/>
    <p:sldId id="304" r:id="rId13"/>
    <p:sldId id="309" r:id="rId14"/>
    <p:sldId id="312" r:id="rId15"/>
    <p:sldId id="311" r:id="rId16"/>
    <p:sldId id="324" r:id="rId17"/>
    <p:sldId id="305" r:id="rId18"/>
    <p:sldId id="306" r:id="rId19"/>
    <p:sldId id="313" r:id="rId20"/>
    <p:sldId id="314" r:id="rId21"/>
    <p:sldId id="315" r:id="rId22"/>
    <p:sldId id="316" r:id="rId23"/>
    <p:sldId id="317" r:id="rId24"/>
    <p:sldId id="318" r:id="rId25"/>
    <p:sldId id="320" r:id="rId26"/>
    <p:sldId id="319" r:id="rId27"/>
    <p:sldId id="325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21345C"/>
    <a:srgbClr val="333F50"/>
    <a:srgbClr val="2A345C"/>
    <a:srgbClr val="1C2244"/>
    <a:srgbClr val="F1ECE6"/>
    <a:srgbClr val="0F1225"/>
    <a:srgbClr val="6D8CAC"/>
    <a:srgbClr val="326393"/>
    <a:srgbClr val="C9CAC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5238" autoAdjust="0"/>
  </p:normalViewPr>
  <p:slideViewPr>
    <p:cSldViewPr snapToGrid="0">
      <p:cViewPr varScale="1">
        <p:scale>
          <a:sx n="122" d="100"/>
          <a:sy n="122" d="100"/>
        </p:scale>
        <p:origin x="48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944DB-02C1-416F-882D-091C19BD97F3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D3D23-882D-485A-8A0A-2C3D13370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60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D3D23-882D-485A-8A0A-2C3D1337077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658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D3D23-882D-485A-8A0A-2C3D1337077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4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116CC-20FF-457A-B0DD-F02EE2901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A0D387-B42B-4157-90E6-FCD3174B4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A7E609-556E-4234-8CFC-AE6C7023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F3B6F-BEB4-4451-A4BA-A0659F2A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703B4-E0EB-4B00-9BF7-03ABD79F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25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F7C35-D8F4-4D64-91F6-455403D3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8CDA9-0970-49A3-82F4-FCFFA63B9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0BDF5-6D16-4A9A-893B-53B11095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635E5-1D8E-4820-93F8-0955606D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1AF3B-8956-4150-8701-B7C6F2B2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4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1787C-EA13-4181-B0B0-B98FD158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5F5F3-03E8-4DE0-BFC5-1307CAE6E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CEA32-CCEE-47B8-A526-80A2933D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64C28-B02D-443E-89E1-FB3F1254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FB7F4-ECD7-4A68-980A-73D9C752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6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298D1-822F-4AE9-BE1F-7EF054CE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596DE-FD94-42CD-A453-C87AAFCB7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5D48B6-4014-4E1E-AD68-C67E693F6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A6CCBA-5D70-4B89-BACA-6C91A0FF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4A065-E00B-4A73-9BB7-B46AC396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6E1E2D-C422-4C81-9EA7-ABA7416D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1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5702F-9D39-4A23-8B2B-227C8FB4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B61F52-FB13-4AA5-8614-96CB85DA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87BAFA-DA5C-41E6-89B9-049ECF13E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8F1D0D-16C1-4524-9BFD-F88D9AADB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C66BD1-687F-4EBD-B80D-A9CE917A7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9544E4-0FB8-47A2-9B6E-896DFDF6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BAF11A-F1C3-474D-991B-EFCEF7C8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39CBAC-49D8-4D2D-A0EB-0A7DD653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19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59595-4D21-46F7-9AA9-99350F31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D291C2-6C24-4F10-AC19-A3D48780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E207B8-FB3D-49E3-8ED2-E499A63D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155E8C-A92C-4F29-8A88-562EE761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6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90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2CA809-A196-4FCA-93A2-324CC693BFD6}"/>
              </a:ext>
            </a:extLst>
          </p:cNvPr>
          <p:cNvSpPr txBox="1"/>
          <p:nvPr userDrawn="1"/>
        </p:nvSpPr>
        <p:spPr>
          <a:xfrm>
            <a:off x="9990758" y="6575907"/>
            <a:ext cx="2198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07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764F0-5601-4A14-A10F-2AABF340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9E9D1-8F1D-4F21-A822-6C7960A9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A7961-D3A0-4BA3-B7D1-830E64EFA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B9528-22B9-4F6F-91C9-6F720DCC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BC077-8A76-446B-8054-77AD1824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25B9B4-BE00-4DC7-A442-DC65D42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78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538A9-CADF-4633-A090-47B42B8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BC4E6F-A0DE-4AE3-90F2-1C03418AC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04145D-ADF1-4464-BC28-593BAE746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D674B-36F7-4FB8-8FD7-4A82F078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B7B17-18E4-4B63-A6C1-BC60814A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71BA4A-3D6F-4036-B650-4BE22EBF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20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B3392-1D66-4FC7-9B67-9373E330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3E0133-FB9E-4A82-B101-5823D201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6BE29-E9E7-4C46-9EA7-89CB1D54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CF291-3561-4887-8CBA-2D73801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223DB-3883-49FB-AC9D-6E713866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48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D0D848-B156-4FC0-9045-C4FA3355A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BE1A0F-E622-4956-B3AE-75C0FFAC3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3557E-01F2-4719-81E9-5B6B18E3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3DD90-F3E1-4BF3-9279-442F300C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03D7F-961F-467A-AB56-CD0F56F5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34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F2D1CD-6AB9-44F7-9AF1-904E917C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EE6583-9D58-4FBE-8B3E-D816FF62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1C4F44-3451-43BF-BB78-2BFFC41D5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7A9D4-2312-4C80-955C-3A7FA2F8832A}" type="datetimeFigureOut">
              <a:rPr lang="ko-KR" altLang="en-US" smtClean="0"/>
              <a:t>2023. 6. 2.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56AF17-214F-4E1E-9255-3368B9888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5F63D-B78D-4305-AB08-518043957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74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namil0717.shinyapps.io/seoulparea/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D96CB-D837-42E6-B753-A362CB784AC7}"/>
              </a:ext>
            </a:extLst>
          </p:cNvPr>
          <p:cNvSpPr txBox="1"/>
          <p:nvPr/>
        </p:nvSpPr>
        <p:spPr>
          <a:xfrm>
            <a:off x="2384090" y="2505670"/>
            <a:ext cx="74238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</a:rPr>
              <a:t>서울시 공영주차장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DB756-317E-4F42-AF88-B6D561E946B9}"/>
              </a:ext>
            </a:extLst>
          </p:cNvPr>
          <p:cNvSpPr txBox="1"/>
          <p:nvPr/>
        </p:nvSpPr>
        <p:spPr>
          <a:xfrm>
            <a:off x="4916369" y="388752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비정형 데이터 분석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B67F781-4111-4EB6-97E9-84D738AD6180}"/>
              </a:ext>
            </a:extLst>
          </p:cNvPr>
          <p:cNvCxnSpPr>
            <a:cxnSpLocks/>
          </p:cNvCxnSpPr>
          <p:nvPr/>
        </p:nvCxnSpPr>
        <p:spPr>
          <a:xfrm>
            <a:off x="2580290" y="3620903"/>
            <a:ext cx="703142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0961E7-5079-4C40-88CA-C2ABE8F1C792}"/>
              </a:ext>
            </a:extLst>
          </p:cNvPr>
          <p:cNvSpPr txBox="1"/>
          <p:nvPr/>
        </p:nvSpPr>
        <p:spPr>
          <a:xfrm>
            <a:off x="5237772" y="5090861"/>
            <a:ext cx="14943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20181493</a:t>
            </a:r>
            <a:r>
              <a:rPr lang="ko-KR" altLang="en-US" sz="1400" dirty="0">
                <a:solidFill>
                  <a:schemeClr val="bg1"/>
                </a:solidFill>
              </a:rPr>
              <a:t> 김재혁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20191476</a:t>
            </a:r>
            <a:r>
              <a:rPr lang="ko-KR" altLang="en-US" sz="1400" dirty="0">
                <a:solidFill>
                  <a:schemeClr val="bg1"/>
                </a:solidFill>
              </a:rPr>
              <a:t> 강남일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20201472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</a:rPr>
              <a:t>손병민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20211459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</a:rPr>
              <a:t>이학주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21820E-7DF5-A618-A575-D5AB13664951}"/>
              </a:ext>
            </a:extLst>
          </p:cNvPr>
          <p:cNvSpPr/>
          <p:nvPr/>
        </p:nvSpPr>
        <p:spPr>
          <a:xfrm>
            <a:off x="9986683" y="6553200"/>
            <a:ext cx="2205317" cy="304800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2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3C7044-85DF-48C4-9801-150B8C9FD8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6985C-E331-4DC3-8E74-D8FC2B1393AD}"/>
              </a:ext>
            </a:extLst>
          </p:cNvPr>
          <p:cNvSpPr txBox="1"/>
          <p:nvPr/>
        </p:nvSpPr>
        <p:spPr>
          <a:xfrm>
            <a:off x="5352848" y="1362223"/>
            <a:ext cx="27521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>
                <a:solidFill>
                  <a:schemeClr val="bg1"/>
                </a:solidFill>
              </a:rPr>
              <a:t>목차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4D3ACE-05D9-4E3A-937C-B66D29696D7A}"/>
              </a:ext>
            </a:extLst>
          </p:cNvPr>
          <p:cNvGrpSpPr/>
          <p:nvPr/>
        </p:nvGrpSpPr>
        <p:grpSpPr>
          <a:xfrm>
            <a:off x="2645312" y="2659471"/>
            <a:ext cx="4419548" cy="523220"/>
            <a:chOff x="1320852" y="4758750"/>
            <a:chExt cx="4419548" cy="5232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6B5DC55-E3AC-4BDB-A37D-92014C2B84A9}"/>
                </a:ext>
              </a:extLst>
            </p:cNvPr>
            <p:cNvSpPr txBox="1"/>
            <p:nvPr/>
          </p:nvSpPr>
          <p:spPr>
            <a:xfrm>
              <a:off x="1920240" y="4820900"/>
              <a:ext cx="3820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</a:rPr>
                <a:t>주제 선정 동기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C566F2-B9E3-4556-A8BB-3138BC81D189}"/>
                </a:ext>
              </a:extLst>
            </p:cNvPr>
            <p:cNvSpPr txBox="1"/>
            <p:nvPr/>
          </p:nvSpPr>
          <p:spPr>
            <a:xfrm>
              <a:off x="1320852" y="4758750"/>
              <a:ext cx="3113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chemeClr val="bg1"/>
                  </a:solidFill>
                </a:rPr>
                <a:t>1</a:t>
              </a:r>
              <a:endParaRPr lang="ko-KR" alt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8C343DA-FAB4-4FD3-B792-CD9C0BE848B1}"/>
              </a:ext>
            </a:extLst>
          </p:cNvPr>
          <p:cNvGrpSpPr/>
          <p:nvPr/>
        </p:nvGrpSpPr>
        <p:grpSpPr>
          <a:xfrm>
            <a:off x="7274398" y="2659471"/>
            <a:ext cx="4419548" cy="523220"/>
            <a:chOff x="1320852" y="4758750"/>
            <a:chExt cx="4419548" cy="52322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57320F-BC60-40C4-A266-D46F6A6DB200}"/>
                </a:ext>
              </a:extLst>
            </p:cNvPr>
            <p:cNvSpPr txBox="1"/>
            <p:nvPr/>
          </p:nvSpPr>
          <p:spPr>
            <a:xfrm>
              <a:off x="1920240" y="4820900"/>
              <a:ext cx="3820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</a:rPr>
                <a:t>데이터 소개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9776E1-D2A2-48A9-A0CD-C0BD287FBB29}"/>
                </a:ext>
              </a:extLst>
            </p:cNvPr>
            <p:cNvSpPr txBox="1"/>
            <p:nvPr/>
          </p:nvSpPr>
          <p:spPr>
            <a:xfrm>
              <a:off x="1320852" y="4758750"/>
              <a:ext cx="3898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chemeClr val="bg1"/>
                  </a:solidFill>
                </a:rPr>
                <a:t>2</a:t>
              </a:r>
              <a:endParaRPr lang="ko-KR" alt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C75BF16-F303-45D9-8C4D-B454A42605F2}"/>
              </a:ext>
            </a:extLst>
          </p:cNvPr>
          <p:cNvGrpSpPr/>
          <p:nvPr/>
        </p:nvGrpSpPr>
        <p:grpSpPr>
          <a:xfrm>
            <a:off x="2661342" y="4728255"/>
            <a:ext cx="4419548" cy="523220"/>
            <a:chOff x="1320852" y="4758750"/>
            <a:chExt cx="4419548" cy="52322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EB8A33-CE9C-4FC4-8B34-1E5E1469742C}"/>
                </a:ext>
              </a:extLst>
            </p:cNvPr>
            <p:cNvSpPr txBox="1"/>
            <p:nvPr/>
          </p:nvSpPr>
          <p:spPr>
            <a:xfrm>
              <a:off x="1920240" y="4820900"/>
              <a:ext cx="3820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</a:rPr>
                <a:t>데이터 </a:t>
              </a:r>
              <a:r>
                <a:rPr lang="ko-KR" altLang="en-US" sz="2000" dirty="0" err="1">
                  <a:solidFill>
                    <a:schemeClr val="bg1"/>
                  </a:solidFill>
                </a:rPr>
                <a:t>전처리</a:t>
              </a:r>
              <a:endParaRPr lang="ko-KR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45E09F-70AB-4DE7-B148-264104F9E08D}"/>
                </a:ext>
              </a:extLst>
            </p:cNvPr>
            <p:cNvSpPr txBox="1"/>
            <p:nvPr/>
          </p:nvSpPr>
          <p:spPr>
            <a:xfrm>
              <a:off x="1320852" y="4758750"/>
              <a:ext cx="3866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chemeClr val="bg1"/>
                  </a:solidFill>
                </a:rPr>
                <a:t>3</a:t>
              </a:r>
              <a:endParaRPr lang="ko-KR" alt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2B75415-ACB9-4E8B-8DC2-197ECDE67E04}"/>
              </a:ext>
            </a:extLst>
          </p:cNvPr>
          <p:cNvGrpSpPr/>
          <p:nvPr/>
        </p:nvGrpSpPr>
        <p:grpSpPr>
          <a:xfrm>
            <a:off x="7274398" y="4634004"/>
            <a:ext cx="4419548" cy="523220"/>
            <a:chOff x="1320852" y="4758750"/>
            <a:chExt cx="4419548" cy="52322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4B92E0-C0B7-44D3-B086-D79556BF057A}"/>
                </a:ext>
              </a:extLst>
            </p:cNvPr>
            <p:cNvSpPr txBox="1"/>
            <p:nvPr/>
          </p:nvSpPr>
          <p:spPr>
            <a:xfrm>
              <a:off x="1920240" y="4820900"/>
              <a:ext cx="3820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</a:rPr>
                <a:t>샤이니 소개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EE13C9-13D6-45BD-A8F2-0816DAC5AAF6}"/>
                </a:ext>
              </a:extLst>
            </p:cNvPr>
            <p:cNvSpPr txBox="1"/>
            <p:nvPr/>
          </p:nvSpPr>
          <p:spPr>
            <a:xfrm>
              <a:off x="1320852" y="4758750"/>
              <a:ext cx="4058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chemeClr val="bg1"/>
                  </a:solidFill>
                </a:rPr>
                <a:t>4</a:t>
              </a:r>
              <a:endParaRPr lang="ko-KR" altLang="en-US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2023652-B173-7055-5FC8-5B3AF03FD29E}"/>
              </a:ext>
            </a:extLst>
          </p:cNvPr>
          <p:cNvSpPr txBox="1"/>
          <p:nvPr/>
        </p:nvSpPr>
        <p:spPr>
          <a:xfrm>
            <a:off x="4875307" y="125820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서울시 공영주차장 분석</a:t>
            </a:r>
          </a:p>
        </p:txBody>
      </p:sp>
      <p:cxnSp>
        <p:nvCxnSpPr>
          <p:cNvPr id="7" name="직선 연결선 4">
            <a:extLst>
              <a:ext uri="{FF2B5EF4-FFF2-40B4-BE49-F238E27FC236}">
                <a16:creationId xmlns:a16="http://schemas.microsoft.com/office/drawing/2014/main" id="{6D5EA1B2-92DB-BFE3-519D-9A1949706B50}"/>
              </a:ext>
            </a:extLst>
          </p:cNvPr>
          <p:cNvCxnSpPr>
            <a:cxnSpLocks/>
          </p:cNvCxnSpPr>
          <p:nvPr/>
        </p:nvCxnSpPr>
        <p:spPr>
          <a:xfrm>
            <a:off x="4875307" y="572904"/>
            <a:ext cx="259878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029C72-72C8-8CC6-3267-72C0FB081140}"/>
              </a:ext>
            </a:extLst>
          </p:cNvPr>
          <p:cNvSpPr txBox="1"/>
          <p:nvPr/>
        </p:nvSpPr>
        <p:spPr>
          <a:xfrm>
            <a:off x="5447438" y="649750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비정형 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340016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3C7044-85DF-48C4-9801-150B8C9FD8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23652-B173-7055-5FC8-5B3AF03FD29E}"/>
              </a:ext>
            </a:extLst>
          </p:cNvPr>
          <p:cNvSpPr txBox="1"/>
          <p:nvPr/>
        </p:nvSpPr>
        <p:spPr>
          <a:xfrm>
            <a:off x="4875307" y="125820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서울시 공영주차장 분석</a:t>
            </a:r>
          </a:p>
        </p:txBody>
      </p:sp>
      <p:cxnSp>
        <p:nvCxnSpPr>
          <p:cNvPr id="7" name="직선 연결선 4">
            <a:extLst>
              <a:ext uri="{FF2B5EF4-FFF2-40B4-BE49-F238E27FC236}">
                <a16:creationId xmlns:a16="http://schemas.microsoft.com/office/drawing/2014/main" id="{6D5EA1B2-92DB-BFE3-519D-9A1949706B50}"/>
              </a:ext>
            </a:extLst>
          </p:cNvPr>
          <p:cNvCxnSpPr>
            <a:cxnSpLocks/>
          </p:cNvCxnSpPr>
          <p:nvPr/>
        </p:nvCxnSpPr>
        <p:spPr>
          <a:xfrm>
            <a:off x="4875307" y="572904"/>
            <a:ext cx="259878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029C72-72C8-8CC6-3267-72C0FB081140}"/>
              </a:ext>
            </a:extLst>
          </p:cNvPr>
          <p:cNvSpPr txBox="1"/>
          <p:nvPr/>
        </p:nvSpPr>
        <p:spPr>
          <a:xfrm>
            <a:off x="5447438" y="649750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비정형 데이터 분석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350D0-80DB-C524-D80D-0D05B8B0502F}"/>
              </a:ext>
            </a:extLst>
          </p:cNvPr>
          <p:cNvGrpSpPr/>
          <p:nvPr/>
        </p:nvGrpSpPr>
        <p:grpSpPr>
          <a:xfrm>
            <a:off x="4293044" y="3153810"/>
            <a:ext cx="4419548" cy="769441"/>
            <a:chOff x="1320852" y="4758750"/>
            <a:chExt cx="4419548" cy="7694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96CE24-FCAB-AEC8-2741-F3138421190D}"/>
                </a:ext>
              </a:extLst>
            </p:cNvPr>
            <p:cNvSpPr txBox="1"/>
            <p:nvPr/>
          </p:nvSpPr>
          <p:spPr>
            <a:xfrm>
              <a:off x="1920240" y="4820900"/>
              <a:ext cx="382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dirty="0">
                  <a:solidFill>
                    <a:schemeClr val="bg1"/>
                  </a:solidFill>
                </a:rPr>
                <a:t>주제 선정 동기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144151-9051-A8A7-4EC0-6481D36DE308}"/>
                </a:ext>
              </a:extLst>
            </p:cNvPr>
            <p:cNvSpPr txBox="1"/>
            <p:nvPr/>
          </p:nvSpPr>
          <p:spPr>
            <a:xfrm>
              <a:off x="1320852" y="475875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chemeClr val="bg1"/>
                  </a:solidFill>
                </a:rPr>
                <a:t>1</a:t>
              </a:r>
              <a:endParaRPr lang="ko-KR" altLang="en-US" sz="4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707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주제 선정  동기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4D75D4-019A-ACB0-60AA-B9D55BB5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71" y="1671415"/>
            <a:ext cx="5004382" cy="3166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4D827-C220-BB8F-8C1D-B6DF1150D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524" y="2258849"/>
            <a:ext cx="6530057" cy="234030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액자 34">
            <a:extLst>
              <a:ext uri="{FF2B5EF4-FFF2-40B4-BE49-F238E27FC236}">
                <a16:creationId xmlns:a16="http://schemas.microsoft.com/office/drawing/2014/main" id="{C31CEBAE-E4D4-2A45-4416-13E280118AFE}"/>
              </a:ext>
            </a:extLst>
          </p:cNvPr>
          <p:cNvSpPr/>
          <p:nvPr/>
        </p:nvSpPr>
        <p:spPr>
          <a:xfrm>
            <a:off x="5719482" y="2411506"/>
            <a:ext cx="6323717" cy="582706"/>
          </a:xfrm>
          <a:prstGeom prst="frame">
            <a:avLst>
              <a:gd name="adj1" fmla="val 634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0FEC25-1E47-CE35-ED3C-7ACE5CAEA5A3}"/>
              </a:ext>
            </a:extLst>
          </p:cNvPr>
          <p:cNvSpPr txBox="1"/>
          <p:nvPr/>
        </p:nvSpPr>
        <p:spPr>
          <a:xfrm>
            <a:off x="319877" y="5278691"/>
            <a:ext cx="11552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서울시의 불법 </a:t>
            </a:r>
            <a:r>
              <a:rPr lang="ko-KR" altLang="en-US" b="1" dirty="0" err="1"/>
              <a:t>주청자</a:t>
            </a:r>
            <a:r>
              <a:rPr lang="ko-KR" altLang="en-US" b="1" dirty="0"/>
              <a:t> 위반 건수는</a:t>
            </a:r>
            <a:r>
              <a:rPr lang="en-US" altLang="ko-KR" b="1" dirty="0"/>
              <a:t> </a:t>
            </a:r>
            <a:r>
              <a:rPr lang="ko-KR" altLang="en-US" b="1" dirty="0"/>
              <a:t>매년 증가하고 있는 추세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ko-KR" altLang="en-US" b="1" dirty="0"/>
              <a:t>서울시 공영주차장 데이터를 통해 주차장 위치와 주차구획 수 파악하기 위해 주제 선택</a:t>
            </a:r>
            <a:endParaRPr lang="en-US" altLang="ko-KR" b="1" dirty="0"/>
          </a:p>
          <a:p>
            <a:pPr algn="ctr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3957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3C7044-85DF-48C4-9801-150B8C9FD8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23652-B173-7055-5FC8-5B3AF03FD29E}"/>
              </a:ext>
            </a:extLst>
          </p:cNvPr>
          <p:cNvSpPr txBox="1"/>
          <p:nvPr/>
        </p:nvSpPr>
        <p:spPr>
          <a:xfrm>
            <a:off x="4875307" y="125820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서울시 공영주차장 분석</a:t>
            </a:r>
          </a:p>
        </p:txBody>
      </p:sp>
      <p:cxnSp>
        <p:nvCxnSpPr>
          <p:cNvPr id="7" name="직선 연결선 4">
            <a:extLst>
              <a:ext uri="{FF2B5EF4-FFF2-40B4-BE49-F238E27FC236}">
                <a16:creationId xmlns:a16="http://schemas.microsoft.com/office/drawing/2014/main" id="{6D5EA1B2-92DB-BFE3-519D-9A1949706B50}"/>
              </a:ext>
            </a:extLst>
          </p:cNvPr>
          <p:cNvCxnSpPr>
            <a:cxnSpLocks/>
          </p:cNvCxnSpPr>
          <p:nvPr/>
        </p:nvCxnSpPr>
        <p:spPr>
          <a:xfrm>
            <a:off x="4875307" y="572904"/>
            <a:ext cx="259878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029C72-72C8-8CC6-3267-72C0FB081140}"/>
              </a:ext>
            </a:extLst>
          </p:cNvPr>
          <p:cNvSpPr txBox="1"/>
          <p:nvPr/>
        </p:nvSpPr>
        <p:spPr>
          <a:xfrm>
            <a:off x="5447438" y="649750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비정형 데이터 분석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350D0-80DB-C524-D80D-0D05B8B0502F}"/>
              </a:ext>
            </a:extLst>
          </p:cNvPr>
          <p:cNvGrpSpPr/>
          <p:nvPr/>
        </p:nvGrpSpPr>
        <p:grpSpPr>
          <a:xfrm>
            <a:off x="4555803" y="3076057"/>
            <a:ext cx="4419548" cy="769441"/>
            <a:chOff x="1320852" y="4758750"/>
            <a:chExt cx="4419548" cy="7694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96CE24-FCAB-AEC8-2741-F3138421190D}"/>
                </a:ext>
              </a:extLst>
            </p:cNvPr>
            <p:cNvSpPr txBox="1"/>
            <p:nvPr/>
          </p:nvSpPr>
          <p:spPr>
            <a:xfrm>
              <a:off x="1920240" y="4820900"/>
              <a:ext cx="382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dirty="0">
                  <a:solidFill>
                    <a:schemeClr val="bg1"/>
                  </a:solidFill>
                </a:rPr>
                <a:t>데이터 소개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144151-9051-A8A7-4EC0-6481D36DE308}"/>
                </a:ext>
              </a:extLst>
            </p:cNvPr>
            <p:cNvSpPr txBox="1"/>
            <p:nvPr/>
          </p:nvSpPr>
          <p:spPr>
            <a:xfrm>
              <a:off x="1320852" y="475875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chemeClr val="bg1"/>
                  </a:solidFill>
                </a:rPr>
                <a:t>2</a:t>
              </a:r>
              <a:endParaRPr lang="ko-KR" altLang="en-US" sz="4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026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75AE2F6-F041-104F-9784-9F77879A60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164"/>
          <a:stretch/>
        </p:blipFill>
        <p:spPr>
          <a:xfrm>
            <a:off x="393907" y="1060510"/>
            <a:ext cx="10652155" cy="19132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15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 소개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2E52BA-9931-93FF-4EBE-A65DE621D4F5}"/>
              </a:ext>
            </a:extLst>
          </p:cNvPr>
          <p:cNvSpPr txBox="1"/>
          <p:nvPr/>
        </p:nvSpPr>
        <p:spPr>
          <a:xfrm>
            <a:off x="10426657" y="6377010"/>
            <a:ext cx="1534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변수 총</a:t>
            </a:r>
            <a:r>
              <a:rPr lang="en-US" altLang="ko-KR" dirty="0"/>
              <a:t> 31</a:t>
            </a:r>
            <a:r>
              <a:rPr lang="ko-KR" altLang="en-US" dirty="0"/>
              <a:t>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BFB8B4-34F4-B7B0-E73A-807D6EAD211F}"/>
              </a:ext>
            </a:extLst>
          </p:cNvPr>
          <p:cNvSpPr txBox="1"/>
          <p:nvPr/>
        </p:nvSpPr>
        <p:spPr>
          <a:xfrm>
            <a:off x="2428260" y="480990"/>
            <a:ext cx="3291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공공데이터포털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전국주차장정보표준데이터</a:t>
            </a:r>
            <a:endParaRPr lang="ko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F337D8-F8FD-17C1-5FEB-9727ED398111}"/>
              </a:ext>
            </a:extLst>
          </p:cNvPr>
          <p:cNvSpPr txBox="1"/>
          <p:nvPr/>
        </p:nvSpPr>
        <p:spPr>
          <a:xfrm>
            <a:off x="505262" y="2891950"/>
            <a:ext cx="1595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주요 변수 소개</a:t>
            </a: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1FB61F37-B131-4D6F-87EC-FE9875B4DB8A}"/>
              </a:ext>
            </a:extLst>
          </p:cNvPr>
          <p:cNvCxnSpPr/>
          <p:nvPr/>
        </p:nvCxnSpPr>
        <p:spPr>
          <a:xfrm>
            <a:off x="6096000" y="3030877"/>
            <a:ext cx="0" cy="3453628"/>
          </a:xfrm>
          <a:prstGeom prst="line">
            <a:avLst/>
          </a:prstGeom>
          <a:ln w="254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A73D9D-344D-4FF1-5BC8-19280FEF0172}"/>
              </a:ext>
            </a:extLst>
          </p:cNvPr>
          <p:cNvSpPr txBox="1"/>
          <p:nvPr/>
        </p:nvSpPr>
        <p:spPr>
          <a:xfrm>
            <a:off x="2573762" y="3237689"/>
            <a:ext cx="251222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b="1" dirty="0"/>
              <a:t>주차장명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000" dirty="0" err="1"/>
              <a:t>우림시장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동원시장</a:t>
            </a:r>
            <a:r>
              <a:rPr kumimoji="1" lang="en-US" altLang="ko-KR" sz="1000" dirty="0"/>
              <a:t>...</a:t>
            </a:r>
          </a:p>
          <a:p>
            <a:endParaRPr kumimoji="1" lang="en-US" altLang="ko-Kore-KR" dirty="0"/>
          </a:p>
          <a:p>
            <a:r>
              <a:rPr kumimoji="1" lang="ko-Kore-KR" altLang="en-US" b="1" dirty="0"/>
              <a:t>주차장구분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000" dirty="0"/>
              <a:t>공영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민영</a:t>
            </a:r>
            <a:endParaRPr kumimoji="1" lang="en-US" altLang="ko-Kore-KR" sz="1000" dirty="0"/>
          </a:p>
          <a:p>
            <a:endParaRPr kumimoji="1" lang="en-US" altLang="ko-Kore-KR" dirty="0"/>
          </a:p>
          <a:p>
            <a:r>
              <a:rPr kumimoji="1" lang="ko-Kore-KR" altLang="en-US" b="1" dirty="0"/>
              <a:t>주차장유형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000" dirty="0"/>
              <a:t>노상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노외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부설</a:t>
            </a:r>
            <a:endParaRPr kumimoji="1" lang="en-US" altLang="ko-Kore-KR" sz="1000" dirty="0"/>
          </a:p>
          <a:p>
            <a:endParaRPr kumimoji="1" lang="en-US" altLang="ko-Kore-KR" dirty="0"/>
          </a:p>
          <a:p>
            <a:r>
              <a:rPr kumimoji="1" lang="ko-Kore-KR" altLang="en-US" b="1" dirty="0"/>
              <a:t>소재지도로명주소</a:t>
            </a:r>
            <a:r>
              <a:rPr kumimoji="1" lang="ko-KR" altLang="en-US" b="1" dirty="0"/>
              <a:t> </a:t>
            </a:r>
            <a:endParaRPr kumimoji="1" lang="en-US" altLang="ko-Kore-KR" b="1" dirty="0"/>
          </a:p>
          <a:p>
            <a:endParaRPr kumimoji="1" lang="en-US" altLang="ko-Kore-KR" dirty="0"/>
          </a:p>
          <a:p>
            <a:r>
              <a:rPr kumimoji="1" lang="ko-Kore-KR" altLang="en-US" b="1" dirty="0"/>
              <a:t>소재지지번주소</a:t>
            </a:r>
            <a:endParaRPr kumimoji="1" lang="en-US" altLang="ko-Kore-KR" b="1" dirty="0"/>
          </a:p>
          <a:p>
            <a:endParaRPr kumimoji="1" lang="en-US" altLang="ko-Kore-KR" dirty="0"/>
          </a:p>
          <a:p>
            <a:r>
              <a:rPr kumimoji="1" lang="ko-Kore-KR" altLang="en-US" b="1" dirty="0"/>
              <a:t>주차구획수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sz="1000" dirty="0"/>
              <a:t>44,26,217...</a:t>
            </a:r>
            <a:endParaRPr kumimoji="1" lang="ko-Kore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FA1A58-0F2E-4E5D-F7F5-9E49AE7878C9}"/>
              </a:ext>
            </a:extLst>
          </p:cNvPr>
          <p:cNvSpPr txBox="1"/>
          <p:nvPr/>
        </p:nvSpPr>
        <p:spPr>
          <a:xfrm>
            <a:off x="7404537" y="3188031"/>
            <a:ext cx="300434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b="1" dirty="0"/>
              <a:t>급지</a:t>
            </a:r>
            <a:r>
              <a:rPr kumimoji="1" lang="ko-KR" altLang="en-US" b="1" dirty="0"/>
              <a:t>구분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sz="1000" dirty="0"/>
              <a:t>1,2,3,4,5</a:t>
            </a:r>
          </a:p>
          <a:p>
            <a:endParaRPr kumimoji="1" lang="en-US" altLang="ko-Kore-KR" dirty="0"/>
          </a:p>
          <a:p>
            <a:r>
              <a:rPr kumimoji="1" lang="ko-KR" altLang="en-US" b="1" dirty="0"/>
              <a:t>부제시행구분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000" dirty="0" err="1"/>
              <a:t>요일제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5</a:t>
            </a:r>
            <a:r>
              <a:rPr kumimoji="1" lang="ko-KR" altLang="en-US" sz="1000" dirty="0"/>
              <a:t>부제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</a:t>
            </a:r>
            <a:r>
              <a:rPr kumimoji="1" lang="ko-KR" altLang="en-US" sz="1000" dirty="0" err="1"/>
              <a:t>미시행</a:t>
            </a:r>
            <a:endParaRPr kumimoji="1" lang="en-US" altLang="ko-KR" sz="1000" dirty="0"/>
          </a:p>
          <a:p>
            <a:endParaRPr kumimoji="1" lang="en-US" altLang="ko-Kore-KR" dirty="0"/>
          </a:p>
          <a:p>
            <a:r>
              <a:rPr kumimoji="1" lang="ko-KR" altLang="en-US" b="1" dirty="0"/>
              <a:t>요금정보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000" dirty="0"/>
              <a:t>유료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무료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혼합</a:t>
            </a:r>
            <a:endParaRPr kumimoji="1" lang="en-US" altLang="ko-KR" sz="1000" dirty="0"/>
          </a:p>
          <a:p>
            <a:endParaRPr kumimoji="1" lang="en-US" altLang="ko-Kore-KR" dirty="0"/>
          </a:p>
          <a:p>
            <a:r>
              <a:rPr kumimoji="1" lang="ko-KR" altLang="en-US" b="1" dirty="0"/>
              <a:t>결제방법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000" dirty="0"/>
              <a:t>카드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현금</a:t>
            </a:r>
            <a:r>
              <a:rPr kumimoji="1" lang="en-US" altLang="ko-KR" sz="1000" dirty="0"/>
              <a:t>...</a:t>
            </a:r>
          </a:p>
          <a:p>
            <a:endParaRPr kumimoji="1" lang="en-US" altLang="ko-Kore-KR" dirty="0"/>
          </a:p>
          <a:p>
            <a:r>
              <a:rPr kumimoji="1" lang="ko-KR" altLang="en-US" b="1" dirty="0"/>
              <a:t>위도</a:t>
            </a:r>
            <a:endParaRPr kumimoji="1" lang="en-US" altLang="ko-KR" b="1" dirty="0"/>
          </a:p>
          <a:p>
            <a:endParaRPr kumimoji="1" lang="en-US" altLang="ko-Kore-KR" dirty="0"/>
          </a:p>
          <a:p>
            <a:r>
              <a:rPr kumimoji="1"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경도</a:t>
            </a:r>
            <a:endParaRPr kumimoji="1" lang="ko-Kore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90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15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 소개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3AF8604-FF43-5F72-3595-CD38FEE029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484"/>
          <a:stretch/>
        </p:blipFill>
        <p:spPr>
          <a:xfrm>
            <a:off x="615536" y="1091008"/>
            <a:ext cx="10365453" cy="175758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EA1EA1D-F5AA-D036-2D8E-48A42E51D770}"/>
              </a:ext>
            </a:extLst>
          </p:cNvPr>
          <p:cNvSpPr txBox="1"/>
          <p:nvPr/>
        </p:nvSpPr>
        <p:spPr>
          <a:xfrm>
            <a:off x="10407434" y="6368534"/>
            <a:ext cx="160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변수 총 </a:t>
            </a:r>
            <a:r>
              <a:rPr lang="en-US" altLang="ko-KR" dirty="0"/>
              <a:t>16</a:t>
            </a:r>
            <a:r>
              <a:rPr lang="ko-KR" altLang="en-US" dirty="0"/>
              <a:t>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CFBF9D-247E-FFA7-11C7-1CFA74122784}"/>
              </a:ext>
            </a:extLst>
          </p:cNvPr>
          <p:cNvSpPr txBox="1"/>
          <p:nvPr/>
        </p:nvSpPr>
        <p:spPr>
          <a:xfrm>
            <a:off x="2428261" y="489004"/>
            <a:ext cx="5639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공공데이터포털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/>
              <a:t>서울특별시</a:t>
            </a:r>
            <a:r>
              <a:rPr lang="en-US" altLang="ko-KR" sz="1200" dirty="0"/>
              <a:t>_</a:t>
            </a:r>
            <a:r>
              <a:rPr lang="ko-KR" altLang="en-US" sz="1200" dirty="0" err="1"/>
              <a:t>행정동별</a:t>
            </a:r>
            <a:r>
              <a:rPr lang="ko-KR" altLang="en-US" sz="1200" dirty="0"/>
              <a:t> 자동차 등록대수 현황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9930A-4BD2-7C32-B977-49DA63005DE6}"/>
              </a:ext>
            </a:extLst>
          </p:cNvPr>
          <p:cNvSpPr txBox="1"/>
          <p:nvPr/>
        </p:nvSpPr>
        <p:spPr>
          <a:xfrm>
            <a:off x="505262" y="2891950"/>
            <a:ext cx="1595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 변수 소개</a:t>
            </a: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7B4A237A-4E7F-746E-518D-A823097B0016}"/>
              </a:ext>
            </a:extLst>
          </p:cNvPr>
          <p:cNvCxnSpPr/>
          <p:nvPr/>
        </p:nvCxnSpPr>
        <p:spPr>
          <a:xfrm>
            <a:off x="6096000" y="3037322"/>
            <a:ext cx="0" cy="3453628"/>
          </a:xfrm>
          <a:prstGeom prst="line">
            <a:avLst/>
          </a:prstGeom>
          <a:ln w="254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E7A883E-DB5D-9197-5B61-20AD54423BF6}"/>
              </a:ext>
            </a:extLst>
          </p:cNvPr>
          <p:cNvSpPr txBox="1"/>
          <p:nvPr/>
        </p:nvSpPr>
        <p:spPr>
          <a:xfrm>
            <a:off x="1208437" y="3713969"/>
            <a:ext cx="45784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 err="1"/>
              <a:t>사용본거지</a:t>
            </a:r>
            <a:r>
              <a:rPr kumimoji="1" lang="ko-KR" altLang="en-US" b="1" dirty="0"/>
              <a:t> </a:t>
            </a:r>
            <a:r>
              <a:rPr kumimoji="1" lang="ko-KR" altLang="en-US" b="1" dirty="0" err="1"/>
              <a:t>시군구</a:t>
            </a:r>
            <a:r>
              <a:rPr kumimoji="1" lang="en-US" altLang="ko-KR" b="1" dirty="0"/>
              <a:t> – </a:t>
            </a:r>
            <a:r>
              <a:rPr kumimoji="1" lang="ko-KR" altLang="en-US" sz="1000" dirty="0"/>
              <a:t>서울특별시 종로구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서울특별시 송파구</a:t>
            </a:r>
            <a:r>
              <a:rPr kumimoji="1" lang="en-US" altLang="ko-KR" sz="1000" dirty="0"/>
              <a:t>...</a:t>
            </a:r>
          </a:p>
          <a:p>
            <a:endParaRPr kumimoji="1" lang="en-US" altLang="ko-Kore-KR" dirty="0"/>
          </a:p>
          <a:p>
            <a:r>
              <a:rPr kumimoji="1" lang="ko-KR" altLang="en-US" b="1" dirty="0" err="1"/>
              <a:t>읍면동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행정동</a:t>
            </a:r>
            <a:r>
              <a:rPr kumimoji="1" lang="en-US" altLang="ko-KR" b="1" dirty="0"/>
              <a:t>)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–</a:t>
            </a:r>
            <a:r>
              <a:rPr kumimoji="1" lang="ko-KR" altLang="en-US" b="1" dirty="0"/>
              <a:t> </a:t>
            </a:r>
            <a:r>
              <a:rPr kumimoji="1" lang="ko-KR" altLang="en-US" sz="1000" dirty="0"/>
              <a:t>종로구 사직동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종로구 </a:t>
            </a:r>
            <a:r>
              <a:rPr kumimoji="1" lang="ko-KR" altLang="en-US" sz="1000" dirty="0" err="1"/>
              <a:t>삼천동</a:t>
            </a:r>
            <a:r>
              <a:rPr kumimoji="1" lang="en-US" altLang="ko-KR" sz="1000" dirty="0"/>
              <a:t>...</a:t>
            </a:r>
            <a:endParaRPr kumimoji="1" lang="en-US" altLang="ko-Kore-KR" sz="1000" dirty="0"/>
          </a:p>
          <a:p>
            <a:endParaRPr kumimoji="1" lang="en-US" altLang="ko-Kore-KR" dirty="0"/>
          </a:p>
          <a:p>
            <a:r>
              <a:rPr kumimoji="1" lang="ko-KR" altLang="en-US" b="1" dirty="0"/>
              <a:t>연료 </a:t>
            </a:r>
            <a:r>
              <a:rPr kumimoji="1" lang="en-US" altLang="ko-KR" b="1" dirty="0"/>
              <a:t>–</a:t>
            </a:r>
            <a:r>
              <a:rPr kumimoji="1" lang="ko-KR" altLang="en-US" b="1" dirty="0"/>
              <a:t> </a:t>
            </a:r>
            <a:r>
              <a:rPr kumimoji="1" lang="ko-KR" altLang="en-US" sz="1000" dirty="0"/>
              <a:t>휘발유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경유</a:t>
            </a:r>
            <a:r>
              <a:rPr kumimoji="1" lang="en-US" altLang="ko-KR" sz="1000" dirty="0"/>
              <a:t>...</a:t>
            </a:r>
            <a:endParaRPr kumimoji="1" lang="en-US" altLang="ko-Kore-KR" sz="1000" dirty="0"/>
          </a:p>
          <a:p>
            <a:endParaRPr kumimoji="1" lang="en-US" altLang="ko-Kore-KR" dirty="0"/>
          </a:p>
          <a:p>
            <a:r>
              <a:rPr kumimoji="1" lang="ko-Kore-KR" altLang="en-US" b="1" dirty="0"/>
              <a:t>계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-</a:t>
            </a:r>
            <a:r>
              <a:rPr kumimoji="1" lang="ko-KR" altLang="en-US" b="1" dirty="0"/>
              <a:t> </a:t>
            </a:r>
            <a:r>
              <a:rPr kumimoji="1" lang="ko-KR" altLang="en-US" sz="1000" dirty="0"/>
              <a:t>합계</a:t>
            </a:r>
            <a:endParaRPr kumimoji="1" lang="en-US" altLang="ko-Kore-KR" sz="1000" dirty="0"/>
          </a:p>
          <a:p>
            <a:endParaRPr kumimoji="1" lang="en-US" altLang="ko-Kore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90119D-ED77-6B41-B9BF-908234E34769}"/>
              </a:ext>
            </a:extLst>
          </p:cNvPr>
          <p:cNvSpPr txBox="1"/>
          <p:nvPr/>
        </p:nvSpPr>
        <p:spPr>
          <a:xfrm>
            <a:off x="7539429" y="3592901"/>
            <a:ext cx="8771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관용</a:t>
            </a:r>
            <a:endParaRPr kumimoji="1" lang="en-US" altLang="ko-Kore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en-US" altLang="ko-Kore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en-US" altLang="ko-Kore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kumimoji="1" lang="ko-Kore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자가용</a:t>
            </a:r>
            <a:endParaRPr kumimoji="1" lang="en-US" altLang="ko-Kore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en-US" altLang="ko-Kore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en-US" altLang="ko-Kore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kumimoji="1" lang="ko-Kore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영업용</a:t>
            </a:r>
            <a:endParaRPr kumimoji="1" lang="en-US" altLang="ko-Kore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C6FDB-B6A7-9662-EA32-964312E9025C}"/>
              </a:ext>
            </a:extLst>
          </p:cNvPr>
          <p:cNvSpPr txBox="1"/>
          <p:nvPr/>
        </p:nvSpPr>
        <p:spPr>
          <a:xfrm>
            <a:off x="9146695" y="4008399"/>
            <a:ext cx="9445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ore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승용</a:t>
            </a:r>
            <a:r>
              <a:rPr kumimoji="1"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kumimoji="1"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kumimoji="1" lang="ko-Kore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승합</a:t>
            </a:r>
            <a:r>
              <a:rPr kumimoji="1"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kumimoji="1"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kumimoji="1" lang="ko-Kore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화물</a:t>
            </a:r>
            <a:r>
              <a:rPr kumimoji="1"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kumimoji="1"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kumimoji="1" lang="ko-Kore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특수</a:t>
            </a:r>
            <a:endParaRPr kumimoji="1" lang="en-US" altLang="ko-Kore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오른쪽 중괄호[R] 17">
            <a:extLst>
              <a:ext uri="{FF2B5EF4-FFF2-40B4-BE49-F238E27FC236}">
                <a16:creationId xmlns:a16="http://schemas.microsoft.com/office/drawing/2014/main" id="{73A0B3E3-454A-29FD-6B17-B6BF792AA8B9}"/>
              </a:ext>
            </a:extLst>
          </p:cNvPr>
          <p:cNvSpPr/>
          <p:nvPr/>
        </p:nvSpPr>
        <p:spPr>
          <a:xfrm>
            <a:off x="8531974" y="3713969"/>
            <a:ext cx="399393" cy="1800000"/>
          </a:xfrm>
          <a:prstGeom prst="rightBrace">
            <a:avLst>
              <a:gd name="adj1" fmla="val 21491"/>
              <a:gd name="adj2" fmla="val 50000"/>
            </a:avLst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85245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3C7044-85DF-48C4-9801-150B8C9FD8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23652-B173-7055-5FC8-5B3AF03FD29E}"/>
              </a:ext>
            </a:extLst>
          </p:cNvPr>
          <p:cNvSpPr txBox="1"/>
          <p:nvPr/>
        </p:nvSpPr>
        <p:spPr>
          <a:xfrm>
            <a:off x="4875307" y="125820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서울시 공영주차장 분석</a:t>
            </a:r>
          </a:p>
        </p:txBody>
      </p:sp>
      <p:cxnSp>
        <p:nvCxnSpPr>
          <p:cNvPr id="7" name="직선 연결선 4">
            <a:extLst>
              <a:ext uri="{FF2B5EF4-FFF2-40B4-BE49-F238E27FC236}">
                <a16:creationId xmlns:a16="http://schemas.microsoft.com/office/drawing/2014/main" id="{6D5EA1B2-92DB-BFE3-519D-9A1949706B50}"/>
              </a:ext>
            </a:extLst>
          </p:cNvPr>
          <p:cNvCxnSpPr>
            <a:cxnSpLocks/>
          </p:cNvCxnSpPr>
          <p:nvPr/>
        </p:nvCxnSpPr>
        <p:spPr>
          <a:xfrm>
            <a:off x="4875307" y="572904"/>
            <a:ext cx="259878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029C72-72C8-8CC6-3267-72C0FB081140}"/>
              </a:ext>
            </a:extLst>
          </p:cNvPr>
          <p:cNvSpPr txBox="1"/>
          <p:nvPr/>
        </p:nvSpPr>
        <p:spPr>
          <a:xfrm>
            <a:off x="5447438" y="649750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비정형 데이터 분석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350D0-80DB-C524-D80D-0D05B8B0502F}"/>
              </a:ext>
            </a:extLst>
          </p:cNvPr>
          <p:cNvGrpSpPr/>
          <p:nvPr/>
        </p:nvGrpSpPr>
        <p:grpSpPr>
          <a:xfrm>
            <a:off x="4303555" y="3122933"/>
            <a:ext cx="4419548" cy="769441"/>
            <a:chOff x="1320852" y="4758750"/>
            <a:chExt cx="4419548" cy="7694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96CE24-FCAB-AEC8-2741-F3138421190D}"/>
                </a:ext>
              </a:extLst>
            </p:cNvPr>
            <p:cNvSpPr txBox="1"/>
            <p:nvPr/>
          </p:nvSpPr>
          <p:spPr>
            <a:xfrm>
              <a:off x="1920240" y="4820900"/>
              <a:ext cx="382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dirty="0">
                  <a:solidFill>
                    <a:schemeClr val="bg1"/>
                  </a:solidFill>
                </a:rPr>
                <a:t>데이터 </a:t>
              </a:r>
              <a:r>
                <a:rPr lang="ko-KR" altLang="en-US" sz="3600" dirty="0" err="1">
                  <a:solidFill>
                    <a:schemeClr val="bg1"/>
                  </a:solidFill>
                </a:rPr>
                <a:t>전처리</a:t>
              </a:r>
              <a:endParaRPr lang="ko-KR" altLang="en-US" sz="3600" dirty="0">
                <a:solidFill>
                  <a:schemeClr val="bg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144151-9051-A8A7-4EC0-6481D36DE308}"/>
                </a:ext>
              </a:extLst>
            </p:cNvPr>
            <p:cNvSpPr txBox="1"/>
            <p:nvPr/>
          </p:nvSpPr>
          <p:spPr>
            <a:xfrm>
              <a:off x="1320852" y="475875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chemeClr val="bg1"/>
                  </a:solidFill>
                </a:rPr>
                <a:t>3</a:t>
              </a:r>
              <a:endParaRPr lang="ko-KR" altLang="en-US" sz="4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898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 </a:t>
            </a:r>
            <a:r>
              <a:rPr lang="ko-KR" altLang="en-US" sz="32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전처리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D789757C-2FFC-A555-4D19-E028BDBAD4E7}"/>
              </a:ext>
            </a:extLst>
          </p:cNvPr>
          <p:cNvSpPr/>
          <p:nvPr/>
        </p:nvSpPr>
        <p:spPr>
          <a:xfrm>
            <a:off x="7335944" y="2115391"/>
            <a:ext cx="2232455" cy="1149613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주소</a:t>
            </a:r>
            <a:endParaRPr lang="ko-KR" altLang="en-US" dirty="0"/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B099DE7A-09AB-31D3-3439-B359F67BEA92}"/>
              </a:ext>
            </a:extLst>
          </p:cNvPr>
          <p:cNvSpPr/>
          <p:nvPr/>
        </p:nvSpPr>
        <p:spPr>
          <a:xfrm>
            <a:off x="5765510" y="2554274"/>
            <a:ext cx="278962" cy="27184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22FC21-24ED-C21F-53AB-6387E29EE8C5}"/>
              </a:ext>
            </a:extLst>
          </p:cNvPr>
          <p:cNvSpPr txBox="1"/>
          <p:nvPr/>
        </p:nvSpPr>
        <p:spPr>
          <a:xfrm>
            <a:off x="646245" y="1193453"/>
            <a:ext cx="1474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1.</a:t>
            </a:r>
            <a:r>
              <a:rPr lang="ko-KR" altLang="en-US" sz="1600" b="1" dirty="0"/>
              <a:t>주소통합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63258026-E1F1-1BBE-D15C-50886906CD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7058" y="3892135"/>
            <a:ext cx="2665984" cy="698583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160A4E15-A15C-31B1-F8E8-A1EC88B37C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3788" y="5489809"/>
            <a:ext cx="1915659" cy="698582"/>
          </a:xfrm>
          <a:prstGeom prst="rect">
            <a:avLst/>
          </a:prstGeom>
        </p:spPr>
      </p:pic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E6EA1495-9C9C-6BFB-7B0E-1038F281F341}"/>
              </a:ext>
            </a:extLst>
          </p:cNvPr>
          <p:cNvSpPr/>
          <p:nvPr/>
        </p:nvSpPr>
        <p:spPr>
          <a:xfrm>
            <a:off x="5765510" y="5042133"/>
            <a:ext cx="278962" cy="27184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07C2E3-02BA-050B-9F44-FB8D6B03CF15}"/>
              </a:ext>
            </a:extLst>
          </p:cNvPr>
          <p:cNvSpPr txBox="1"/>
          <p:nvPr/>
        </p:nvSpPr>
        <p:spPr>
          <a:xfrm>
            <a:off x="3234578" y="4808725"/>
            <a:ext cx="4191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41FD3A0B-309A-31D8-9DB1-D74DFA288A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77372" y="4544687"/>
            <a:ext cx="1949598" cy="698583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B340E00-1A2E-0FED-C5E5-4171EF387E18}"/>
              </a:ext>
            </a:extLst>
          </p:cNvPr>
          <p:cNvSpPr/>
          <p:nvPr/>
        </p:nvSpPr>
        <p:spPr>
          <a:xfrm>
            <a:off x="2313788" y="2155183"/>
            <a:ext cx="2232455" cy="1149613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소재지도로명주소</a:t>
            </a:r>
            <a:endParaRPr lang="en-US" altLang="ko-KR" dirty="0"/>
          </a:p>
          <a:p>
            <a:pPr algn="ctr"/>
            <a:r>
              <a:rPr lang="en-US" altLang="ko-KR" dirty="0"/>
              <a:t>+</a:t>
            </a:r>
          </a:p>
          <a:p>
            <a:pPr algn="ctr"/>
            <a:r>
              <a:rPr lang="ko-KR" altLang="en-US" dirty="0" err="1"/>
              <a:t>소재지지번주소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401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그림 56">
            <a:extLst>
              <a:ext uri="{FF2B5EF4-FFF2-40B4-BE49-F238E27FC236}">
                <a16:creationId xmlns:a16="http://schemas.microsoft.com/office/drawing/2014/main" id="{0E588CDA-D0A4-014D-224F-2ACCBE776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515" y="3222754"/>
            <a:ext cx="3896269" cy="2867425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 </a:t>
            </a:r>
            <a:r>
              <a:rPr lang="ko-KR" altLang="en-US" sz="32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전처리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57B824-9138-E385-95FF-813382CF9DA4}"/>
              </a:ext>
            </a:extLst>
          </p:cNvPr>
          <p:cNvSpPr txBox="1"/>
          <p:nvPr/>
        </p:nvSpPr>
        <p:spPr>
          <a:xfrm>
            <a:off x="547674" y="1051922"/>
            <a:ext cx="208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2.</a:t>
            </a:r>
            <a:r>
              <a:rPr lang="ko-KR" altLang="en-US" sz="1600" b="1" dirty="0"/>
              <a:t>위경도 </a:t>
            </a:r>
            <a:r>
              <a:rPr lang="ko-KR" altLang="en-US" sz="1600" b="1" dirty="0" err="1"/>
              <a:t>결측치</a:t>
            </a:r>
            <a:r>
              <a:rPr lang="ko-KR" altLang="en-US" sz="1600" b="1" dirty="0"/>
              <a:t> 충당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7831B0-8787-20CE-1819-E98F87F19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200" y="1603528"/>
            <a:ext cx="2314898" cy="12670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4A4369-385D-F79E-5D5E-53C45940BB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339" y="1603528"/>
            <a:ext cx="1962424" cy="12670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6F1856-EDAB-6D9D-FE70-84EFC1FEC8BD}"/>
              </a:ext>
            </a:extLst>
          </p:cNvPr>
          <p:cNvSpPr txBox="1"/>
          <p:nvPr/>
        </p:nvSpPr>
        <p:spPr>
          <a:xfrm>
            <a:off x="4553106" y="2052363"/>
            <a:ext cx="6572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…</a:t>
            </a:r>
            <a:endParaRPr lang="ko-KR" altLang="en-US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17C8299-BE72-724A-486B-E1EDA33E5162}"/>
              </a:ext>
            </a:extLst>
          </p:cNvPr>
          <p:cNvCxnSpPr>
            <a:cxnSpLocks/>
          </p:cNvCxnSpPr>
          <p:nvPr/>
        </p:nvCxnSpPr>
        <p:spPr>
          <a:xfrm>
            <a:off x="833424" y="5759463"/>
            <a:ext cx="433401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7AD92E9-14A9-EF28-EDCC-A38C36165136}"/>
              </a:ext>
            </a:extLst>
          </p:cNvPr>
          <p:cNvCxnSpPr>
            <a:cxnSpLocks/>
          </p:cNvCxnSpPr>
          <p:nvPr/>
        </p:nvCxnSpPr>
        <p:spPr>
          <a:xfrm>
            <a:off x="833424" y="2130438"/>
            <a:ext cx="0" cy="364807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A528DDAD-A0D6-FB35-820C-CEBD5FC6DC6D}"/>
              </a:ext>
            </a:extLst>
          </p:cNvPr>
          <p:cNvCxnSpPr>
            <a:cxnSpLocks/>
          </p:cNvCxnSpPr>
          <p:nvPr/>
        </p:nvCxnSpPr>
        <p:spPr>
          <a:xfrm>
            <a:off x="814374" y="2130438"/>
            <a:ext cx="94282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D212BB6-B4E6-1C58-B4A9-BAB1B722E4B5}"/>
              </a:ext>
            </a:extLst>
          </p:cNvPr>
          <p:cNvSpPr/>
          <p:nvPr/>
        </p:nvSpPr>
        <p:spPr>
          <a:xfrm>
            <a:off x="1428751" y="3299698"/>
            <a:ext cx="3714749" cy="452284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12A98965-6ADD-AE20-FC2C-2E382FC741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784" y="3222754"/>
            <a:ext cx="2957241" cy="2863765"/>
          </a:xfrm>
          <a:prstGeom prst="rect">
            <a:avLst/>
          </a:prstGeom>
        </p:spPr>
      </p:pic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436763AE-4390-4458-36FD-CD5BCEBBE266}"/>
              </a:ext>
            </a:extLst>
          </p:cNvPr>
          <p:cNvSpPr/>
          <p:nvPr/>
        </p:nvSpPr>
        <p:spPr>
          <a:xfrm>
            <a:off x="6470651" y="4371344"/>
            <a:ext cx="1568450" cy="452284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7ADF6148-61BA-258A-B634-B1E81A270D65}"/>
              </a:ext>
            </a:extLst>
          </p:cNvPr>
          <p:cNvCxnSpPr>
            <a:cxnSpLocks/>
          </p:cNvCxnSpPr>
          <p:nvPr/>
        </p:nvCxnSpPr>
        <p:spPr>
          <a:xfrm flipH="1">
            <a:off x="7663288" y="2130438"/>
            <a:ext cx="709187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57A3F93E-FEED-6231-720D-B08E6B43ECA7}"/>
              </a:ext>
            </a:extLst>
          </p:cNvPr>
          <p:cNvCxnSpPr>
            <a:cxnSpLocks/>
          </p:cNvCxnSpPr>
          <p:nvPr/>
        </p:nvCxnSpPr>
        <p:spPr>
          <a:xfrm>
            <a:off x="5143500" y="3530613"/>
            <a:ext cx="321945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CA3CE1B3-3088-3BEA-CB97-5262BBE3064F}"/>
              </a:ext>
            </a:extLst>
          </p:cNvPr>
          <p:cNvCxnSpPr>
            <a:cxnSpLocks/>
          </p:cNvCxnSpPr>
          <p:nvPr/>
        </p:nvCxnSpPr>
        <p:spPr>
          <a:xfrm>
            <a:off x="8039101" y="4616463"/>
            <a:ext cx="323849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5A53BA3C-DF74-2CB8-3D25-7930CE2748B9}"/>
              </a:ext>
            </a:extLst>
          </p:cNvPr>
          <p:cNvCxnSpPr>
            <a:cxnSpLocks/>
          </p:cNvCxnSpPr>
          <p:nvPr/>
        </p:nvCxnSpPr>
        <p:spPr>
          <a:xfrm>
            <a:off x="8362950" y="2130438"/>
            <a:ext cx="0" cy="24955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화살표: 오른쪽 69">
            <a:extLst>
              <a:ext uri="{FF2B5EF4-FFF2-40B4-BE49-F238E27FC236}">
                <a16:creationId xmlns:a16="http://schemas.microsoft.com/office/drawing/2014/main" id="{6074DA3F-D58D-9706-EB4B-CDBFE52E8FF5}"/>
              </a:ext>
            </a:extLst>
          </p:cNvPr>
          <p:cNvSpPr/>
          <p:nvPr/>
        </p:nvSpPr>
        <p:spPr>
          <a:xfrm>
            <a:off x="8793176" y="3616058"/>
            <a:ext cx="278962" cy="27184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65551A17-6D3F-1C28-F9A1-AC2B232523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892" y="2589770"/>
            <a:ext cx="1962424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2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 </a:t>
            </a:r>
            <a:r>
              <a:rPr lang="ko-KR" altLang="en-US" sz="32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전처리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F337D8-F8FD-17C1-5FEB-9727ED398111}"/>
              </a:ext>
            </a:extLst>
          </p:cNvPr>
          <p:cNvSpPr txBox="1"/>
          <p:nvPr/>
        </p:nvSpPr>
        <p:spPr>
          <a:xfrm>
            <a:off x="329610" y="1093964"/>
            <a:ext cx="4588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3.’</a:t>
            </a:r>
            <a:r>
              <a:rPr lang="ko-KR" altLang="en-US" sz="1600" b="1" dirty="0"/>
              <a:t>주소</a:t>
            </a:r>
            <a:r>
              <a:rPr lang="en-US" altLang="ko-KR" sz="1600" b="1" dirty="0"/>
              <a:t>’ </a:t>
            </a:r>
            <a:r>
              <a:rPr lang="ko-KR" altLang="en-US" sz="1600" b="1" dirty="0"/>
              <a:t>변수에서 자치구 추출 </a:t>
            </a:r>
            <a:r>
              <a:rPr lang="en-US" altLang="ko-KR" sz="1600" b="1" dirty="0"/>
              <a:t>‘</a:t>
            </a:r>
            <a:r>
              <a:rPr lang="ko-KR" altLang="en-US" sz="1600" b="1" dirty="0" err="1"/>
              <a:t>시군구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 변수 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E511BA-817B-F41A-195B-94E1A5849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086" y="4562688"/>
            <a:ext cx="704948" cy="148610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5CB9785-45D5-6C7F-68C4-283054601A46}"/>
              </a:ext>
            </a:extLst>
          </p:cNvPr>
          <p:cNvSpPr/>
          <p:nvPr/>
        </p:nvSpPr>
        <p:spPr>
          <a:xfrm>
            <a:off x="8781086" y="4562688"/>
            <a:ext cx="704948" cy="145785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8219EB-2E8D-427F-5DD7-84B080FBD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085" y="4562688"/>
            <a:ext cx="2305372" cy="1495634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2585475-7354-CFD6-DFA3-E347E5ED8F78}"/>
              </a:ext>
            </a:extLst>
          </p:cNvPr>
          <p:cNvCxnSpPr>
            <a:cxnSpLocks/>
          </p:cNvCxnSpPr>
          <p:nvPr/>
        </p:nvCxnSpPr>
        <p:spPr>
          <a:xfrm>
            <a:off x="3697854" y="5385028"/>
            <a:ext cx="4691188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7F8318-8171-B778-6535-F8E2E360A3CC}"/>
              </a:ext>
            </a:extLst>
          </p:cNvPr>
          <p:cNvSpPr/>
          <p:nvPr/>
        </p:nvSpPr>
        <p:spPr>
          <a:xfrm>
            <a:off x="2953336" y="4780299"/>
            <a:ext cx="495300" cy="125312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46">
            <a:extLst>
              <a:ext uri="{FF2B5EF4-FFF2-40B4-BE49-F238E27FC236}">
                <a16:creationId xmlns:a16="http://schemas.microsoft.com/office/drawing/2014/main" id="{8898A7F2-06DA-3BAE-1B83-23F51EE701AA}"/>
              </a:ext>
            </a:extLst>
          </p:cNvPr>
          <p:cNvSpPr/>
          <p:nvPr/>
        </p:nvSpPr>
        <p:spPr>
          <a:xfrm>
            <a:off x="4918140" y="1671415"/>
            <a:ext cx="2232455" cy="1149613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주소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D927DC3-9BBB-1FAC-E882-4BEA9B2F11B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68649" y="3148270"/>
            <a:ext cx="1949598" cy="6985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5944BE-FA79-4B93-4213-23D67C7BED22}"/>
              </a:ext>
            </a:extLst>
          </p:cNvPr>
          <p:cNvSpPr txBox="1"/>
          <p:nvPr/>
        </p:nvSpPr>
        <p:spPr>
          <a:xfrm>
            <a:off x="8579562" y="40392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&lt;</a:t>
            </a:r>
            <a:r>
              <a:rPr kumimoji="1" lang="ko-KR" altLang="en-US" b="1" dirty="0" err="1"/>
              <a:t>시군구</a:t>
            </a:r>
            <a:r>
              <a:rPr kumimoji="1" lang="en-US" altLang="ko-KR" b="1" dirty="0"/>
              <a:t>&gt;</a:t>
            </a:r>
            <a:endParaRPr kumimoji="1" lang="ko-Kore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DD424C-B313-1730-0BA9-B885C97256FE}"/>
              </a:ext>
            </a:extLst>
          </p:cNvPr>
          <p:cNvSpPr txBox="1"/>
          <p:nvPr/>
        </p:nvSpPr>
        <p:spPr>
          <a:xfrm>
            <a:off x="2857524" y="40392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/>
              <a:t>&lt;</a:t>
            </a:r>
            <a:r>
              <a:rPr kumimoji="1" lang="ko-KR" altLang="en-US" b="1" dirty="0"/>
              <a:t>주소</a:t>
            </a:r>
            <a:r>
              <a:rPr kumimoji="1" lang="en-US" altLang="ko-KR" b="1" dirty="0"/>
              <a:t>&gt;</a:t>
            </a:r>
            <a:endParaRPr kumimoji="1" lang="ko-Kore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2636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 </a:t>
            </a:r>
            <a:r>
              <a:rPr lang="ko-KR" altLang="en-US" sz="32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전처리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CF518-2B67-12EC-8FB6-F03E182C2D8F}"/>
              </a:ext>
            </a:extLst>
          </p:cNvPr>
          <p:cNvSpPr txBox="1"/>
          <p:nvPr/>
        </p:nvSpPr>
        <p:spPr>
          <a:xfrm>
            <a:off x="547674" y="1051922"/>
            <a:ext cx="1660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4.</a:t>
            </a:r>
            <a:r>
              <a:rPr lang="ko-KR" altLang="en-US" sz="1600" b="1" dirty="0" err="1"/>
              <a:t>운영요일</a:t>
            </a:r>
            <a:r>
              <a:rPr lang="ko-KR" altLang="en-US" sz="1600" b="1" dirty="0"/>
              <a:t> 수정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CFB18-19CE-7C38-C5B7-FB0D8B8A0C50}"/>
              </a:ext>
            </a:extLst>
          </p:cNvPr>
          <p:cNvSpPr txBox="1"/>
          <p:nvPr/>
        </p:nvSpPr>
        <p:spPr>
          <a:xfrm>
            <a:off x="1955742" y="5564475"/>
            <a:ext cx="351082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/>
              <a:t>1.</a:t>
            </a:r>
            <a:r>
              <a:rPr lang="ko-KR" altLang="en-US" sz="1400" b="1" dirty="0"/>
              <a:t> 평일</a:t>
            </a:r>
            <a:r>
              <a:rPr lang="en-US" altLang="ko-KR" sz="1400" b="1" dirty="0"/>
              <a:t>+</a:t>
            </a:r>
            <a:r>
              <a:rPr lang="ko-KR" altLang="en-US" sz="1400" b="1" dirty="0"/>
              <a:t>토요일</a:t>
            </a:r>
            <a:r>
              <a:rPr lang="en-US" altLang="ko-KR" sz="1400" b="1" dirty="0"/>
              <a:t>+</a:t>
            </a:r>
            <a:r>
              <a:rPr lang="ko-KR" altLang="en-US" sz="1400" b="1" dirty="0"/>
              <a:t>공휴일</a:t>
            </a:r>
            <a:r>
              <a:rPr lang="en-US" altLang="ko-KR" sz="1400" b="1" dirty="0"/>
              <a:t> -&gt; </a:t>
            </a:r>
            <a:r>
              <a:rPr lang="ko-KR" altLang="en-US" sz="1400" b="1" dirty="0"/>
              <a:t>연중무휴</a:t>
            </a:r>
            <a:endParaRPr lang="en-US" altLang="ko-KR" sz="1400" b="1" dirty="0"/>
          </a:p>
          <a:p>
            <a:pPr algn="ctr"/>
            <a:endParaRPr lang="en-US" altLang="ko-KR" sz="1400" b="1" dirty="0"/>
          </a:p>
          <a:p>
            <a:pPr algn="ctr"/>
            <a:r>
              <a:rPr lang="en-US" altLang="ko-KR" sz="1400" b="1" dirty="0"/>
              <a:t>2.</a:t>
            </a:r>
            <a:r>
              <a:rPr lang="ko-KR" altLang="en-US" sz="1400" b="1" dirty="0"/>
              <a:t> 토요일</a:t>
            </a:r>
            <a:r>
              <a:rPr lang="en-US" altLang="ko-KR" sz="1400" b="1" dirty="0"/>
              <a:t>+</a:t>
            </a:r>
            <a:r>
              <a:rPr lang="ko-KR" altLang="en-US" sz="1400" b="1" dirty="0"/>
              <a:t>공휴일</a:t>
            </a:r>
            <a:r>
              <a:rPr lang="en-US" altLang="ko-KR" sz="1400" b="1" dirty="0"/>
              <a:t> -&gt; </a:t>
            </a:r>
            <a:r>
              <a:rPr lang="ko-KR" altLang="en-US" sz="1400" b="1" dirty="0"/>
              <a:t>주말</a:t>
            </a:r>
            <a:endParaRPr lang="en-US" altLang="ko-KR" sz="1400" b="1" dirty="0"/>
          </a:p>
          <a:p>
            <a:pPr algn="ctr"/>
            <a:endParaRPr lang="en-US" altLang="ko-KR" sz="1400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E51E4D8-B8C5-1215-3B0A-D501E0B2B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847" y="1732792"/>
            <a:ext cx="1526615" cy="34116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64A0A1C-135C-BA29-3142-393275BE76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>
            <a:off x="7900122" y="1732792"/>
            <a:ext cx="1392229" cy="3421272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68EC495A-165A-4D87-E6C9-2B4BE0C88729}"/>
              </a:ext>
            </a:extLst>
          </p:cNvPr>
          <p:cNvSpPr/>
          <p:nvPr/>
        </p:nvSpPr>
        <p:spPr>
          <a:xfrm>
            <a:off x="6047811" y="3302694"/>
            <a:ext cx="278962" cy="27184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5BF43-838D-B556-A27B-BCBCBE56B4F5}"/>
              </a:ext>
            </a:extLst>
          </p:cNvPr>
          <p:cNvSpPr txBox="1"/>
          <p:nvPr/>
        </p:nvSpPr>
        <p:spPr>
          <a:xfrm>
            <a:off x="7244507" y="571451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b="1" dirty="0"/>
              <a:t>운영요일</a:t>
            </a:r>
          </a:p>
        </p:txBody>
      </p:sp>
      <p:sp>
        <p:nvSpPr>
          <p:cNvPr id="10" name="왼쪽 중괄호[L] 9">
            <a:extLst>
              <a:ext uri="{FF2B5EF4-FFF2-40B4-BE49-F238E27FC236}">
                <a16:creationId xmlns:a16="http://schemas.microsoft.com/office/drawing/2014/main" id="{AB92BB61-7958-3FAB-F3A7-A4E763116C24}"/>
              </a:ext>
            </a:extLst>
          </p:cNvPr>
          <p:cNvSpPr/>
          <p:nvPr/>
        </p:nvSpPr>
        <p:spPr>
          <a:xfrm>
            <a:off x="8147318" y="5465379"/>
            <a:ext cx="448918" cy="830318"/>
          </a:xfrm>
          <a:prstGeom prst="leftBrace">
            <a:avLst>
              <a:gd name="adj1" fmla="val 46240"/>
              <a:gd name="adj2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1DA261-7B3D-F3A1-5667-A0C85A48C749}"/>
              </a:ext>
            </a:extLst>
          </p:cNvPr>
          <p:cNvSpPr txBox="1"/>
          <p:nvPr/>
        </p:nvSpPr>
        <p:spPr>
          <a:xfrm>
            <a:off x="8946897" y="5391350"/>
            <a:ext cx="12522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b="1" dirty="0"/>
              <a:t>연중무휴</a:t>
            </a:r>
            <a:endParaRPr kumimoji="1" lang="en-US" altLang="ko-Kore-KR" sz="1400" b="1" dirty="0"/>
          </a:p>
          <a:p>
            <a:r>
              <a:rPr kumimoji="1" lang="ko-Kore-KR" altLang="en-US" sz="1400" b="1" dirty="0"/>
              <a:t>주말</a:t>
            </a:r>
            <a:endParaRPr kumimoji="1" lang="en-US" altLang="ko-Kore-KR" sz="1400" b="1" dirty="0"/>
          </a:p>
          <a:p>
            <a:r>
              <a:rPr kumimoji="1" lang="ko-Kore-KR" altLang="en-US" sz="1400" b="1" dirty="0"/>
              <a:t>평일</a:t>
            </a:r>
            <a:endParaRPr kumimoji="1" lang="en-US" altLang="ko-Kore-KR" sz="1400" b="1" dirty="0"/>
          </a:p>
          <a:p>
            <a:r>
              <a:rPr kumimoji="1" lang="ko-Kore-KR" altLang="en-US" sz="1400" b="1" dirty="0"/>
              <a:t>평일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+</a:t>
            </a:r>
            <a:r>
              <a:rPr kumimoji="1" lang="ko-KR" altLang="en-US" sz="1400" b="1" dirty="0"/>
              <a:t> 토요일</a:t>
            </a:r>
            <a:endParaRPr kumimoji="1" lang="ko-Kore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47816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 </a:t>
            </a:r>
            <a:r>
              <a:rPr lang="ko-KR" altLang="en-US" sz="32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전처리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CF518-2B67-12EC-8FB6-F03E182C2D8F}"/>
              </a:ext>
            </a:extLst>
          </p:cNvPr>
          <p:cNvSpPr txBox="1"/>
          <p:nvPr/>
        </p:nvSpPr>
        <p:spPr>
          <a:xfrm>
            <a:off x="547674" y="1051922"/>
            <a:ext cx="289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6.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5</a:t>
            </a:r>
            <a:r>
              <a:rPr lang="ko-KR" altLang="en-US" sz="1600" b="1" dirty="0"/>
              <a:t>분당 평균가격 데이터 생성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C4F312-2025-EF6F-6C1A-506967897B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98" y="1816791"/>
            <a:ext cx="6311793" cy="3755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F1432C-3DB7-5934-DBD7-2A37C3DFC229}"/>
              </a:ext>
            </a:extLst>
          </p:cNvPr>
          <p:cNvSpPr txBox="1"/>
          <p:nvPr/>
        </p:nvSpPr>
        <p:spPr>
          <a:xfrm>
            <a:off x="8536235" y="2368368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b="1" dirty="0"/>
              <a:t>급지구분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-</a:t>
            </a:r>
            <a:r>
              <a:rPr kumimoji="1" lang="ko-KR" altLang="en-US" b="1" dirty="0"/>
              <a:t> 주차장유형</a:t>
            </a:r>
            <a:endParaRPr kumimoji="1" lang="ko-Kore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82D4B-8D78-DE9F-24DE-5D646EA32A1C}"/>
              </a:ext>
            </a:extLst>
          </p:cNvPr>
          <p:cNvSpPr txBox="1"/>
          <p:nvPr/>
        </p:nvSpPr>
        <p:spPr>
          <a:xfrm>
            <a:off x="8653380" y="364925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dirty="0"/>
              <a:t>노상</a:t>
            </a:r>
            <a:endParaRPr kumimoji="1" lang="en-US" altLang="ko-Kore-KR" dirty="0"/>
          </a:p>
          <a:p>
            <a:r>
              <a:rPr kumimoji="1" lang="ko-Kore-KR" altLang="en-US" dirty="0"/>
              <a:t>노외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2B8FC-E44D-EDC0-BD28-F7CC32EB772F}"/>
              </a:ext>
            </a:extLst>
          </p:cNvPr>
          <p:cNvSpPr txBox="1"/>
          <p:nvPr/>
        </p:nvSpPr>
        <p:spPr>
          <a:xfrm>
            <a:off x="10096165" y="3314655"/>
            <a:ext cx="7633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/>
              <a:t>1</a:t>
            </a:r>
            <a:r>
              <a:rPr kumimoji="1" lang="ko-KR" altLang="en-US" dirty="0"/>
              <a:t>급지</a:t>
            </a:r>
            <a:endParaRPr kumimoji="1" lang="en-US" altLang="ko-KR" dirty="0"/>
          </a:p>
          <a:p>
            <a:r>
              <a:rPr kumimoji="1" lang="en-US" altLang="ko-KR" dirty="0"/>
              <a:t>2</a:t>
            </a:r>
            <a:r>
              <a:rPr kumimoji="1" lang="ko-KR" altLang="en-US" dirty="0"/>
              <a:t>급지</a:t>
            </a:r>
            <a:endParaRPr kumimoji="1" lang="en-US" altLang="ko-KR" dirty="0"/>
          </a:p>
          <a:p>
            <a:r>
              <a:rPr kumimoji="1" lang="en-US" altLang="ko-KR" dirty="0"/>
              <a:t>3</a:t>
            </a:r>
            <a:r>
              <a:rPr kumimoji="1" lang="ko-KR" altLang="en-US" dirty="0"/>
              <a:t>급지</a:t>
            </a:r>
            <a:endParaRPr kumimoji="1" lang="en-US" altLang="ko-KR" dirty="0"/>
          </a:p>
          <a:p>
            <a:r>
              <a:rPr kumimoji="1" lang="en-US" altLang="ko-KR" dirty="0"/>
              <a:t>4</a:t>
            </a:r>
            <a:r>
              <a:rPr kumimoji="1" lang="ko-KR" altLang="en-US" dirty="0"/>
              <a:t>급지</a:t>
            </a:r>
            <a:endParaRPr kumimoji="1" lang="en-US" altLang="ko-KR" dirty="0"/>
          </a:p>
          <a:p>
            <a:r>
              <a:rPr kumimoji="1" lang="en-US" altLang="ko-KR" dirty="0"/>
              <a:t>5</a:t>
            </a:r>
            <a:r>
              <a:rPr kumimoji="1" lang="ko-KR" altLang="en-US" dirty="0"/>
              <a:t>급지</a:t>
            </a:r>
            <a:endParaRPr kumimoji="1" lang="ko-Kore-KR" altLang="en-US" dirty="0"/>
          </a:p>
        </p:txBody>
      </p:sp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C02366D1-3C7A-8C94-D5E4-7B4422076699}"/>
              </a:ext>
            </a:extLst>
          </p:cNvPr>
          <p:cNvSpPr/>
          <p:nvPr/>
        </p:nvSpPr>
        <p:spPr>
          <a:xfrm>
            <a:off x="7854988" y="2579801"/>
            <a:ext cx="3800983" cy="2785241"/>
          </a:xfrm>
          <a:prstGeom prst="bracketPair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8877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A88A3A1-E2FC-8530-6DD6-5AA9A1D6558A}"/>
              </a:ext>
            </a:extLst>
          </p:cNvPr>
          <p:cNvSpPr/>
          <p:nvPr/>
        </p:nvSpPr>
        <p:spPr>
          <a:xfrm>
            <a:off x="8229245" y="1527390"/>
            <a:ext cx="2665984" cy="2494535"/>
          </a:xfrm>
          <a:prstGeom prst="roundRect">
            <a:avLst>
              <a:gd name="adj" fmla="val 28167"/>
            </a:avLst>
          </a:prstGeom>
          <a:solidFill>
            <a:srgbClr val="21345C"/>
          </a:solidFill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2289A01-5338-2233-F8CB-3AA2C76B4C0B}"/>
              </a:ext>
            </a:extLst>
          </p:cNvPr>
          <p:cNvSpPr/>
          <p:nvPr/>
        </p:nvSpPr>
        <p:spPr>
          <a:xfrm>
            <a:off x="1664847" y="1532007"/>
            <a:ext cx="2665984" cy="2494535"/>
          </a:xfrm>
          <a:prstGeom prst="roundRect">
            <a:avLst>
              <a:gd name="adj" fmla="val 28167"/>
            </a:avLst>
          </a:prstGeom>
          <a:solidFill>
            <a:srgbClr val="21345C"/>
          </a:solidFill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 </a:t>
            </a:r>
            <a:r>
              <a:rPr lang="ko-KR" altLang="en-US" sz="32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전처리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A1EA1D-F5AA-D036-2D8E-48A42E51D770}"/>
              </a:ext>
            </a:extLst>
          </p:cNvPr>
          <p:cNvSpPr txBox="1"/>
          <p:nvPr/>
        </p:nvSpPr>
        <p:spPr>
          <a:xfrm>
            <a:off x="10585233" y="6368534"/>
            <a:ext cx="160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총 </a:t>
            </a:r>
            <a:r>
              <a:rPr lang="en-US" altLang="ko-KR" dirty="0"/>
              <a:t>16</a:t>
            </a:r>
            <a:r>
              <a:rPr lang="ko-KR" altLang="en-US" dirty="0"/>
              <a:t>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1432F1-9F88-A28C-4CB5-D9D7052D0C34}"/>
              </a:ext>
            </a:extLst>
          </p:cNvPr>
          <p:cNvSpPr txBox="1"/>
          <p:nvPr/>
        </p:nvSpPr>
        <p:spPr>
          <a:xfrm>
            <a:off x="1859899" y="1768634"/>
            <a:ext cx="22298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</a:rPr>
              <a:t>사용본거지</a:t>
            </a:r>
            <a:r>
              <a:rPr lang="ko-KR" altLang="en-US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</a:rPr>
              <a:t>시군구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 err="1">
                <a:solidFill>
                  <a:schemeClr val="bg1"/>
                </a:solidFill>
              </a:rPr>
              <a:t>읍면동</a:t>
            </a:r>
            <a:r>
              <a:rPr lang="ko-KR" altLang="en-US" sz="1600" dirty="0">
                <a:solidFill>
                  <a:schemeClr val="bg1"/>
                </a:solidFill>
              </a:rPr>
              <a:t> 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행정동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연료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계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관용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승용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관용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</a:rPr>
              <a:t>승합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관용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화물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관용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특수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5846ED-0EA0-780E-66FD-F89D4409DA31}"/>
              </a:ext>
            </a:extLst>
          </p:cNvPr>
          <p:cNvSpPr txBox="1"/>
          <p:nvPr/>
        </p:nvSpPr>
        <p:spPr>
          <a:xfrm>
            <a:off x="8447310" y="1640906"/>
            <a:ext cx="22298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자가용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승용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자가용 </a:t>
            </a:r>
            <a:r>
              <a:rPr lang="ko-KR" altLang="en-US" sz="1600" dirty="0" err="1">
                <a:solidFill>
                  <a:schemeClr val="bg1"/>
                </a:solidFill>
              </a:rPr>
              <a:t>승합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자가용 화물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자가용 특수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영업용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승용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영업용 </a:t>
            </a:r>
            <a:r>
              <a:rPr lang="ko-KR" altLang="en-US" sz="1600" dirty="0" err="1">
                <a:solidFill>
                  <a:schemeClr val="bg1"/>
                </a:solidFill>
              </a:rPr>
              <a:t>승합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영업용 화물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영업용 특수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en-US" altLang="ko-KR" sz="1600" b="1" dirty="0">
                <a:solidFill>
                  <a:srgbClr val="00B0F0"/>
                </a:solidFill>
              </a:rPr>
              <a:t>+Gu</a:t>
            </a:r>
            <a:endParaRPr lang="ko-KR" altLang="en-US" sz="1600" b="1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0F4C01-7199-D6A7-1F3A-DC00BE3C5784}"/>
              </a:ext>
            </a:extLst>
          </p:cNvPr>
          <p:cNvSpPr txBox="1"/>
          <p:nvPr/>
        </p:nvSpPr>
        <p:spPr>
          <a:xfrm>
            <a:off x="547674" y="1051922"/>
            <a:ext cx="6977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7.</a:t>
            </a:r>
            <a:r>
              <a:rPr lang="ko-KR" altLang="en-US" sz="1600" b="1" dirty="0"/>
              <a:t>등록차량데이터 </a:t>
            </a:r>
            <a:r>
              <a:rPr lang="en-US" altLang="ko-KR" sz="1600" b="1" dirty="0"/>
              <a:t>‘</a:t>
            </a:r>
            <a:r>
              <a:rPr lang="ko-KR" altLang="en-US" sz="1600" b="1" dirty="0" err="1"/>
              <a:t>사용본거지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시군구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 변수에서 자치구 추출 </a:t>
            </a:r>
            <a:r>
              <a:rPr lang="en-US" altLang="ko-KR" sz="1600" b="1" dirty="0"/>
              <a:t>Gu</a:t>
            </a:r>
            <a:r>
              <a:rPr lang="ko-KR" altLang="en-US" sz="1600" b="1" dirty="0"/>
              <a:t>변수 생성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96D593-40F3-C564-F529-0D23D4461AC2}"/>
              </a:ext>
            </a:extLst>
          </p:cNvPr>
          <p:cNvSpPr/>
          <p:nvPr/>
        </p:nvSpPr>
        <p:spPr>
          <a:xfrm>
            <a:off x="2098525" y="1768167"/>
            <a:ext cx="1752600" cy="204830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537D34C-25FC-38D9-BA38-17812CF0BDA3}"/>
              </a:ext>
            </a:extLst>
          </p:cNvPr>
          <p:cNvCxnSpPr>
            <a:cxnSpLocks/>
          </p:cNvCxnSpPr>
          <p:nvPr/>
        </p:nvCxnSpPr>
        <p:spPr>
          <a:xfrm flipH="1">
            <a:off x="541773" y="1768167"/>
            <a:ext cx="1556752" cy="240767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0B64D21-2533-AA40-1B34-40BCE7923FD2}"/>
              </a:ext>
            </a:extLst>
          </p:cNvPr>
          <p:cNvCxnSpPr>
            <a:cxnSpLocks/>
          </p:cNvCxnSpPr>
          <p:nvPr/>
        </p:nvCxnSpPr>
        <p:spPr>
          <a:xfrm flipH="1">
            <a:off x="547674" y="3816467"/>
            <a:ext cx="1550851" cy="2736733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9075153-21DC-9321-659A-B34F6824EFA0}"/>
              </a:ext>
            </a:extLst>
          </p:cNvPr>
          <p:cNvCxnSpPr>
            <a:cxnSpLocks/>
          </p:cNvCxnSpPr>
          <p:nvPr/>
        </p:nvCxnSpPr>
        <p:spPr>
          <a:xfrm>
            <a:off x="3851125" y="3816986"/>
            <a:ext cx="4010046" cy="273621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4DF1E15-623E-5CEC-7AB2-7D68AA5F8C63}"/>
              </a:ext>
            </a:extLst>
          </p:cNvPr>
          <p:cNvCxnSpPr>
            <a:cxnSpLocks/>
          </p:cNvCxnSpPr>
          <p:nvPr/>
        </p:nvCxnSpPr>
        <p:spPr>
          <a:xfrm>
            <a:off x="3851125" y="1768167"/>
            <a:ext cx="4031823" cy="240345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BC0E043-0F19-E0BB-A982-FA9A2821C9CC}"/>
              </a:ext>
            </a:extLst>
          </p:cNvPr>
          <p:cNvSpPr txBox="1"/>
          <p:nvPr/>
        </p:nvSpPr>
        <p:spPr>
          <a:xfrm rot="872763">
            <a:off x="9145816" y="3456569"/>
            <a:ext cx="14576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FFC000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new!</a:t>
            </a:r>
            <a:endParaRPr lang="ko-KR" altLang="en-US" dirty="0">
              <a:solidFill>
                <a:srgbClr val="FFC000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1DF08FC-8669-B3D2-8104-0EBB28457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4" y="4162091"/>
            <a:ext cx="7335274" cy="2391109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4420CF3B-2A08-17DF-7477-6923DBE92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972" y="4171618"/>
            <a:ext cx="552527" cy="2381582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C9C049B9-7925-0800-E246-A289DA1E015E}"/>
              </a:ext>
            </a:extLst>
          </p:cNvPr>
          <p:cNvSpPr/>
          <p:nvPr/>
        </p:nvSpPr>
        <p:spPr>
          <a:xfrm>
            <a:off x="1647825" y="4699428"/>
            <a:ext cx="485704" cy="185377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6398ED8-6C3D-CEBC-7C75-3C3809CEED9F}"/>
              </a:ext>
            </a:extLst>
          </p:cNvPr>
          <p:cNvSpPr/>
          <p:nvPr/>
        </p:nvSpPr>
        <p:spPr>
          <a:xfrm>
            <a:off x="9285972" y="4162090"/>
            <a:ext cx="552527" cy="238158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4B58FFC-BF6D-916E-F6EB-1DB8240301B6}"/>
              </a:ext>
            </a:extLst>
          </p:cNvPr>
          <p:cNvCxnSpPr>
            <a:cxnSpLocks/>
          </p:cNvCxnSpPr>
          <p:nvPr/>
        </p:nvCxnSpPr>
        <p:spPr>
          <a:xfrm>
            <a:off x="2133529" y="5386866"/>
            <a:ext cx="7039917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17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FA642FA-1B8E-7F39-5096-6FF666666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880" y="2131808"/>
            <a:ext cx="3328239" cy="300216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882ED174-9DED-DBDC-C8B9-4742711CCADC}"/>
              </a:ext>
            </a:extLst>
          </p:cNvPr>
          <p:cNvSpPr/>
          <p:nvPr/>
        </p:nvSpPr>
        <p:spPr>
          <a:xfrm>
            <a:off x="4463553" y="2163417"/>
            <a:ext cx="3280271" cy="297055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 </a:t>
            </a:r>
            <a:r>
              <a:rPr lang="ko-KR" altLang="en-US" sz="32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전처리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CF518-2B67-12EC-8FB6-F03E182C2D8F}"/>
              </a:ext>
            </a:extLst>
          </p:cNvPr>
          <p:cNvSpPr txBox="1"/>
          <p:nvPr/>
        </p:nvSpPr>
        <p:spPr>
          <a:xfrm>
            <a:off x="547673" y="1051922"/>
            <a:ext cx="5081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8.</a:t>
            </a:r>
            <a:r>
              <a:rPr lang="ko-KR" altLang="en-US" sz="1600" b="1" dirty="0" err="1"/>
              <a:t>행정구</a:t>
            </a:r>
            <a:r>
              <a:rPr lang="ko-KR" altLang="en-US" sz="1600" b="1" dirty="0"/>
              <a:t> 별 </a:t>
            </a:r>
            <a:r>
              <a:rPr lang="ko-KR" altLang="en-US" sz="1600" b="1" dirty="0" err="1"/>
              <a:t>주차구획수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등록차량수</a:t>
            </a:r>
            <a:r>
              <a:rPr lang="ko-KR" altLang="en-US" sz="1600" b="1" dirty="0"/>
              <a:t> 합계 데이터 생성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E129EBA-5D35-B2C4-AF0D-5E184611356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53650" y="2131808"/>
            <a:ext cx="631406" cy="274227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183FBDF-4022-04A1-C20C-20D43BA99BC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3619" y="2131808"/>
            <a:ext cx="631406" cy="278723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505E058-B8D0-BFBE-CFA9-E6E1DDB0DD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454" y="2131808"/>
            <a:ext cx="764755" cy="302528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8C455A0-DFEA-16C8-38EA-835A3E3429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190" y="2131808"/>
            <a:ext cx="1009650" cy="30065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3CBC1EA-BFA5-AF4E-8D17-D210708B54BE}"/>
              </a:ext>
            </a:extLst>
          </p:cNvPr>
          <p:cNvSpPr txBox="1"/>
          <p:nvPr/>
        </p:nvSpPr>
        <p:spPr>
          <a:xfrm>
            <a:off x="2142933" y="3448222"/>
            <a:ext cx="6572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353A2-F772-1E7F-9639-E94785613665}"/>
              </a:ext>
            </a:extLst>
          </p:cNvPr>
          <p:cNvSpPr txBox="1"/>
          <p:nvPr/>
        </p:nvSpPr>
        <p:spPr>
          <a:xfrm>
            <a:off x="9640140" y="3318279"/>
            <a:ext cx="6572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FC286F7-5104-DBD9-080C-0E005D16998D}"/>
              </a:ext>
            </a:extLst>
          </p:cNvPr>
          <p:cNvSpPr/>
          <p:nvPr/>
        </p:nvSpPr>
        <p:spPr>
          <a:xfrm>
            <a:off x="1304565" y="2419968"/>
            <a:ext cx="2079594" cy="274257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C4503E-AC86-00E6-656C-EFEAB7C2DFF2}"/>
              </a:ext>
            </a:extLst>
          </p:cNvPr>
          <p:cNvSpPr/>
          <p:nvPr/>
        </p:nvSpPr>
        <p:spPr>
          <a:xfrm>
            <a:off x="9112669" y="2430111"/>
            <a:ext cx="1672388" cy="244397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185525E-7504-8329-11B8-5D80CB013BB7}"/>
              </a:ext>
            </a:extLst>
          </p:cNvPr>
          <p:cNvCxnSpPr>
            <a:cxnSpLocks/>
          </p:cNvCxnSpPr>
          <p:nvPr/>
        </p:nvCxnSpPr>
        <p:spPr>
          <a:xfrm>
            <a:off x="6527310" y="1762164"/>
            <a:ext cx="0" cy="54278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00835B-03AA-2334-B7F7-F111FE383CBD}"/>
              </a:ext>
            </a:extLst>
          </p:cNvPr>
          <p:cNvSpPr/>
          <p:nvPr/>
        </p:nvSpPr>
        <p:spPr>
          <a:xfrm>
            <a:off x="5734050" y="2424040"/>
            <a:ext cx="976748" cy="28106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ECE20CA-DE04-EEBC-E010-74124625AD96}"/>
              </a:ext>
            </a:extLst>
          </p:cNvPr>
          <p:cNvCxnSpPr>
            <a:cxnSpLocks/>
          </p:cNvCxnSpPr>
          <p:nvPr/>
        </p:nvCxnSpPr>
        <p:spPr>
          <a:xfrm>
            <a:off x="7520565" y="1758963"/>
            <a:ext cx="0" cy="56503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8EC40E3-2B23-84B6-CB14-15AF3E517E78}"/>
              </a:ext>
            </a:extLst>
          </p:cNvPr>
          <p:cNvSpPr/>
          <p:nvPr/>
        </p:nvSpPr>
        <p:spPr>
          <a:xfrm>
            <a:off x="6710799" y="2424040"/>
            <a:ext cx="1013976" cy="28106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9F5101E-6BB2-1D29-4062-3C87FEFF9027}"/>
              </a:ext>
            </a:extLst>
          </p:cNvPr>
          <p:cNvCxnSpPr>
            <a:cxnSpLocks/>
          </p:cNvCxnSpPr>
          <p:nvPr/>
        </p:nvCxnSpPr>
        <p:spPr>
          <a:xfrm flipV="1">
            <a:off x="2450858" y="1778013"/>
            <a:ext cx="4076452" cy="2541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57AD45F-8D74-83AF-BB5F-0F3C8AD1E6E0}"/>
              </a:ext>
            </a:extLst>
          </p:cNvPr>
          <p:cNvCxnSpPr>
            <a:cxnSpLocks/>
          </p:cNvCxnSpPr>
          <p:nvPr/>
        </p:nvCxnSpPr>
        <p:spPr>
          <a:xfrm flipV="1">
            <a:off x="7539615" y="1758963"/>
            <a:ext cx="2448188" cy="190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1DFB743-2418-2447-5D8C-6EEFD271403D}"/>
              </a:ext>
            </a:extLst>
          </p:cNvPr>
          <p:cNvCxnSpPr>
            <a:cxnSpLocks/>
          </p:cNvCxnSpPr>
          <p:nvPr/>
        </p:nvCxnSpPr>
        <p:spPr>
          <a:xfrm flipV="1">
            <a:off x="2466695" y="1782473"/>
            <a:ext cx="0" cy="65209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C945997-7601-AAC3-5FF2-74807A1B4EFA}"/>
              </a:ext>
            </a:extLst>
          </p:cNvPr>
          <p:cNvCxnSpPr>
            <a:cxnSpLocks/>
          </p:cNvCxnSpPr>
          <p:nvPr/>
        </p:nvCxnSpPr>
        <p:spPr>
          <a:xfrm flipV="1">
            <a:off x="9968753" y="1758963"/>
            <a:ext cx="0" cy="67114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FA9AF25-BDEB-1F19-B014-DBE87788EBD7}"/>
              </a:ext>
            </a:extLst>
          </p:cNvPr>
          <p:cNvSpPr txBox="1"/>
          <p:nvPr/>
        </p:nvSpPr>
        <p:spPr>
          <a:xfrm>
            <a:off x="1398067" y="3245324"/>
            <a:ext cx="657225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FFC000"/>
                </a:solidFill>
              </a:rPr>
              <a:t>+</a:t>
            </a:r>
            <a:endParaRPr lang="ko-KR" altLang="en-US" sz="6000" dirty="0">
              <a:solidFill>
                <a:srgbClr val="FFC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404CD-8897-93DA-61CB-5474F30A5277}"/>
              </a:ext>
            </a:extLst>
          </p:cNvPr>
          <p:cNvSpPr txBox="1"/>
          <p:nvPr/>
        </p:nvSpPr>
        <p:spPr>
          <a:xfrm>
            <a:off x="9019099" y="3102315"/>
            <a:ext cx="657225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FFC000"/>
                </a:solidFill>
              </a:rPr>
              <a:t>+</a:t>
            </a:r>
            <a:endParaRPr lang="ko-KR" altLang="en-US" sz="6000" dirty="0">
              <a:solidFill>
                <a:srgbClr val="FFC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966DEF-E46A-373B-A99D-327CD1BDC84F}"/>
              </a:ext>
            </a:extLst>
          </p:cNvPr>
          <p:cNvSpPr txBox="1"/>
          <p:nvPr/>
        </p:nvSpPr>
        <p:spPr>
          <a:xfrm rot="21321665">
            <a:off x="3753383" y="1909869"/>
            <a:ext cx="14576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FFC000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new!</a:t>
            </a:r>
            <a:endParaRPr lang="ko-KR" altLang="en-US" dirty="0">
              <a:solidFill>
                <a:srgbClr val="FFC000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025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3C7044-85DF-48C4-9801-150B8C9FD8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23652-B173-7055-5FC8-5B3AF03FD29E}"/>
              </a:ext>
            </a:extLst>
          </p:cNvPr>
          <p:cNvSpPr txBox="1"/>
          <p:nvPr/>
        </p:nvSpPr>
        <p:spPr>
          <a:xfrm>
            <a:off x="4875307" y="125820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서울시 공영주차장 분석</a:t>
            </a:r>
          </a:p>
        </p:txBody>
      </p:sp>
      <p:cxnSp>
        <p:nvCxnSpPr>
          <p:cNvPr id="7" name="직선 연결선 4">
            <a:extLst>
              <a:ext uri="{FF2B5EF4-FFF2-40B4-BE49-F238E27FC236}">
                <a16:creationId xmlns:a16="http://schemas.microsoft.com/office/drawing/2014/main" id="{6D5EA1B2-92DB-BFE3-519D-9A1949706B50}"/>
              </a:ext>
            </a:extLst>
          </p:cNvPr>
          <p:cNvCxnSpPr>
            <a:cxnSpLocks/>
          </p:cNvCxnSpPr>
          <p:nvPr/>
        </p:nvCxnSpPr>
        <p:spPr>
          <a:xfrm>
            <a:off x="4875307" y="572904"/>
            <a:ext cx="259878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029C72-72C8-8CC6-3267-72C0FB081140}"/>
              </a:ext>
            </a:extLst>
          </p:cNvPr>
          <p:cNvSpPr txBox="1"/>
          <p:nvPr/>
        </p:nvSpPr>
        <p:spPr>
          <a:xfrm>
            <a:off x="5447438" y="649750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비정형 데이터 분석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350D0-80DB-C524-D80D-0D05B8B0502F}"/>
              </a:ext>
            </a:extLst>
          </p:cNvPr>
          <p:cNvGrpSpPr/>
          <p:nvPr/>
        </p:nvGrpSpPr>
        <p:grpSpPr>
          <a:xfrm>
            <a:off x="4587334" y="3153810"/>
            <a:ext cx="4419548" cy="769441"/>
            <a:chOff x="1320852" y="4758750"/>
            <a:chExt cx="4419548" cy="7694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96CE24-FCAB-AEC8-2741-F3138421190D}"/>
                </a:ext>
              </a:extLst>
            </p:cNvPr>
            <p:cNvSpPr txBox="1"/>
            <p:nvPr/>
          </p:nvSpPr>
          <p:spPr>
            <a:xfrm>
              <a:off x="1920240" y="4820900"/>
              <a:ext cx="382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dirty="0">
                  <a:solidFill>
                    <a:schemeClr val="bg1"/>
                  </a:solidFill>
                </a:rPr>
                <a:t>샤이니 소개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144151-9051-A8A7-4EC0-6481D36DE308}"/>
                </a:ext>
              </a:extLst>
            </p:cNvPr>
            <p:cNvSpPr txBox="1"/>
            <p:nvPr/>
          </p:nvSpPr>
          <p:spPr>
            <a:xfrm>
              <a:off x="1320852" y="475875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solidFill>
                    <a:schemeClr val="bg1"/>
                  </a:solidFill>
                </a:rPr>
                <a:t>4</a:t>
              </a:r>
              <a:endParaRPr lang="ko-KR" altLang="en-US" sz="4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485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그림 62">
            <a:extLst>
              <a:ext uri="{FF2B5EF4-FFF2-40B4-BE49-F238E27FC236}">
                <a16:creationId xmlns:a16="http://schemas.microsoft.com/office/drawing/2014/main" id="{246622DB-8DFF-C489-1EEE-E433686EA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32246"/>
            <a:ext cx="12014200" cy="5925754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5602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 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서울시      공영주차장       분포 지도      시각화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82750E-9F27-3C5E-FF12-2C4F56DC88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575" y="1326194"/>
            <a:ext cx="3101425" cy="53587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A01C612-6E35-C9AE-2C0F-5F871D4140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902" y="3621504"/>
            <a:ext cx="2842098" cy="297982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0999B6-B3AF-4CB5-2834-679FE9B147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210" y="1326194"/>
            <a:ext cx="2702564" cy="160252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B1B68DB-0A1A-6003-AD9A-A93540D516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27" y="3099852"/>
            <a:ext cx="2698847" cy="101881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C853AB-2F3B-CD40-61B2-102C110A4C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210" y="4287974"/>
            <a:ext cx="2707910" cy="1198250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D020F75-5FB1-8439-FA76-744D2E15AE30}"/>
              </a:ext>
            </a:extLst>
          </p:cNvPr>
          <p:cNvCxnSpPr>
            <a:cxnSpLocks/>
          </p:cNvCxnSpPr>
          <p:nvPr/>
        </p:nvCxnSpPr>
        <p:spPr>
          <a:xfrm flipH="1" flipV="1">
            <a:off x="8981992" y="1402444"/>
            <a:ext cx="376552" cy="7183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1C7D951-2439-9658-CD31-D0E8E79B87A9}"/>
              </a:ext>
            </a:extLst>
          </p:cNvPr>
          <p:cNvCxnSpPr>
            <a:cxnSpLocks/>
          </p:cNvCxnSpPr>
          <p:nvPr/>
        </p:nvCxnSpPr>
        <p:spPr>
          <a:xfrm flipH="1">
            <a:off x="8979319" y="2949170"/>
            <a:ext cx="329094" cy="2437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6771F23-9D9F-8170-578B-5075FAC7C914}"/>
              </a:ext>
            </a:extLst>
          </p:cNvPr>
          <p:cNvCxnSpPr>
            <a:cxnSpLocks/>
          </p:cNvCxnSpPr>
          <p:nvPr/>
        </p:nvCxnSpPr>
        <p:spPr>
          <a:xfrm flipH="1">
            <a:off x="8979319" y="3552800"/>
            <a:ext cx="329094" cy="820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54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49968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 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자치구      별      </a:t>
            </a:r>
            <a:r>
              <a:rPr lang="ko-KR" altLang="en-US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주차구획수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시각화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1A0749-7BE4-22CD-90D8-38980B920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13468"/>
            <a:ext cx="12014200" cy="593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3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4887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자치구      별      주차장 개수      시각화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CF121C-ECA1-5160-5983-598A0C9EF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25988"/>
            <a:ext cx="12014200" cy="593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8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61253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자치구      별      </a:t>
            </a:r>
            <a:r>
              <a:rPr lang="ko-KR" altLang="en-US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등록차량수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altLang="ko-KR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ko-KR" altLang="en-US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주차구획수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상관분석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7D3309-2C28-8D12-A64F-6626AF931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32246"/>
            <a:ext cx="12014200" cy="59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4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7288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자치구      별      </a:t>
            </a:r>
            <a:r>
              <a:rPr lang="en-US" altLang="ko-KR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분당      평균 주차요금    </a:t>
            </a:r>
            <a:r>
              <a:rPr lang="en-US" altLang="ko-KR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&amp;. 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주차요금 계산기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D583DF-7087-0360-F5D1-260B4AF31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32247"/>
            <a:ext cx="12014200" cy="59257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B70EF3-CF1E-7A45-0F4D-72CB516FE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772" y="1326520"/>
            <a:ext cx="1923966" cy="1541680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1F7C561-91A0-4BEA-489E-F0F8EE3B9FBC}"/>
              </a:ext>
            </a:extLst>
          </p:cNvPr>
          <p:cNvCxnSpPr>
            <a:cxnSpLocks/>
          </p:cNvCxnSpPr>
          <p:nvPr/>
        </p:nvCxnSpPr>
        <p:spPr>
          <a:xfrm flipH="1" flipV="1">
            <a:off x="8886825" y="1468822"/>
            <a:ext cx="365322" cy="3966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8FEA8707-8192-8DAB-F617-006A5A6BAD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015" y="3272867"/>
            <a:ext cx="1923966" cy="33367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8970A21-E4C0-C51C-B346-1D5CFD1FAD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772" y="2924043"/>
            <a:ext cx="1939303" cy="327415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7115736-178B-C8A0-FC98-EDE0529C2399}"/>
              </a:ext>
            </a:extLst>
          </p:cNvPr>
          <p:cNvSpPr/>
          <p:nvPr/>
        </p:nvSpPr>
        <p:spPr>
          <a:xfrm>
            <a:off x="7069015" y="1595404"/>
            <a:ext cx="1755265" cy="19822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1C447D-1EAB-DB5A-E122-9A604B265ECD}"/>
              </a:ext>
            </a:extLst>
          </p:cNvPr>
          <p:cNvSpPr/>
          <p:nvPr/>
        </p:nvSpPr>
        <p:spPr>
          <a:xfrm>
            <a:off x="7069015" y="2954578"/>
            <a:ext cx="391040" cy="2556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15D9D7E-B59D-8036-7855-0275CE8C04CF}"/>
              </a:ext>
            </a:extLst>
          </p:cNvPr>
          <p:cNvSpPr/>
          <p:nvPr/>
        </p:nvSpPr>
        <p:spPr>
          <a:xfrm>
            <a:off x="7082258" y="3309202"/>
            <a:ext cx="535896" cy="2556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F5F7A9-56A7-BFB4-E188-1DF54AE29FB9}"/>
              </a:ext>
            </a:extLst>
          </p:cNvPr>
          <p:cNvSpPr txBox="1"/>
          <p:nvPr/>
        </p:nvSpPr>
        <p:spPr>
          <a:xfrm>
            <a:off x="7248459" y="2928532"/>
            <a:ext cx="8193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accent1"/>
                </a:solidFill>
                <a:effectLst/>
              </a:rPr>
              <a:t>input!</a:t>
            </a:r>
            <a:endParaRPr lang="ko-KR" altLang="en-US" sz="14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0FC567-890B-FB97-69B5-04D500922E2E}"/>
              </a:ext>
            </a:extLst>
          </p:cNvPr>
          <p:cNvSpPr txBox="1"/>
          <p:nvPr/>
        </p:nvSpPr>
        <p:spPr>
          <a:xfrm>
            <a:off x="7550219" y="3265584"/>
            <a:ext cx="8193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accent1"/>
                </a:solidFill>
                <a:effectLst/>
              </a:rPr>
              <a:t>output!</a:t>
            </a:r>
            <a:endParaRPr lang="ko-KR" altLang="en-US" sz="14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0A80B83-6174-E744-7F8B-E566C331583A}"/>
              </a:ext>
            </a:extLst>
          </p:cNvPr>
          <p:cNvCxnSpPr>
            <a:cxnSpLocks/>
          </p:cNvCxnSpPr>
          <p:nvPr/>
        </p:nvCxnSpPr>
        <p:spPr>
          <a:xfrm flipH="1">
            <a:off x="8886825" y="2639044"/>
            <a:ext cx="365322" cy="4045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4579F22-848E-3773-6E70-F64B6B54B923}"/>
              </a:ext>
            </a:extLst>
          </p:cNvPr>
          <p:cNvCxnSpPr>
            <a:cxnSpLocks/>
          </p:cNvCxnSpPr>
          <p:nvPr/>
        </p:nvCxnSpPr>
        <p:spPr>
          <a:xfrm flipH="1">
            <a:off x="8886825" y="3147525"/>
            <a:ext cx="446018" cy="2814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F6525DA-24A5-80CF-4917-AF40964C2128}"/>
              </a:ext>
            </a:extLst>
          </p:cNvPr>
          <p:cNvSpPr txBox="1"/>
          <p:nvPr/>
        </p:nvSpPr>
        <p:spPr>
          <a:xfrm>
            <a:off x="7536976" y="1557704"/>
            <a:ext cx="8193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accent1"/>
                </a:solidFill>
                <a:effectLst/>
              </a:rPr>
              <a:t>select!</a:t>
            </a:r>
            <a:endParaRPr lang="ko-KR" altLang="en-US" sz="1400" dirty="0">
              <a:solidFill>
                <a:schemeClr val="accent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2141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795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 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en-US" altLang="ko-KR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  a  t   a</a:t>
            </a:r>
            <a:endParaRPr lang="ko-KR" altLang="en-US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FA7FF79-217E-548A-2A97-200AB88BA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13474"/>
            <a:ext cx="12014200" cy="594452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F557333-2A00-14FE-F9DE-D4FBD3505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959" y="1990571"/>
            <a:ext cx="1041659" cy="61751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8F951C0-2708-9E3F-662E-515DA0C0F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663" y="1983942"/>
            <a:ext cx="1022947" cy="61751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E916508-06B9-80AF-AC82-C2906C6824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18" y="1975130"/>
            <a:ext cx="1025185" cy="62993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A4930E8-1907-038B-3B18-7A7EB95B70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1963103"/>
            <a:ext cx="1262515" cy="66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8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A2EE6749-9D35-C90B-3648-E3C7E2E89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32246"/>
            <a:ext cx="12014200" cy="5925754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9BC9-96FB-4B17-AF51-48D81692F2D7}"/>
              </a:ext>
            </a:extLst>
          </p:cNvPr>
          <p:cNvSpPr txBox="1"/>
          <p:nvPr/>
        </p:nvSpPr>
        <p:spPr>
          <a:xfrm>
            <a:off x="329610" y="111525"/>
            <a:ext cx="2795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</a:t>
            </a:r>
            <a:r>
              <a:rPr lang="en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</a:t>
            </a:r>
            <a:r>
              <a:rPr lang="en" altLang="ko-KR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  a  t   a</a:t>
            </a:r>
            <a:endParaRPr lang="ko-KR" altLang="en-US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F4994D-7497-779D-CAB3-5D6AB15F7F0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37" y="1314461"/>
            <a:ext cx="330178" cy="66535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6C357BC-20BB-A1A0-DC08-69CD2EA3A6B7}"/>
              </a:ext>
            </a:extLst>
          </p:cNvPr>
          <p:cNvSpPr/>
          <p:nvPr/>
        </p:nvSpPr>
        <p:spPr>
          <a:xfrm>
            <a:off x="11191783" y="1320993"/>
            <a:ext cx="919302" cy="16945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B2C03B-0775-3540-1EB3-2ECB46BDE1AB}"/>
              </a:ext>
            </a:extLst>
          </p:cNvPr>
          <p:cNvSpPr/>
          <p:nvPr/>
        </p:nvSpPr>
        <p:spPr>
          <a:xfrm>
            <a:off x="7287726" y="2290125"/>
            <a:ext cx="479834" cy="8353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FF1EFF7-F9E4-CD38-09AA-C1F866D36A9C}"/>
              </a:ext>
            </a:extLst>
          </p:cNvPr>
          <p:cNvCxnSpPr>
            <a:cxnSpLocks/>
          </p:cNvCxnSpPr>
          <p:nvPr/>
        </p:nvCxnSpPr>
        <p:spPr>
          <a:xfrm>
            <a:off x="7405734" y="1491675"/>
            <a:ext cx="0" cy="72642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A87834D-9E80-DD38-C22D-81375DE26631}"/>
              </a:ext>
            </a:extLst>
          </p:cNvPr>
          <p:cNvCxnSpPr>
            <a:cxnSpLocks/>
          </p:cNvCxnSpPr>
          <p:nvPr/>
        </p:nvCxnSpPr>
        <p:spPr>
          <a:xfrm>
            <a:off x="7387628" y="1473569"/>
            <a:ext cx="3804155" cy="136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C3589A0-2361-A926-E3BA-A819EF322372}"/>
              </a:ext>
            </a:extLst>
          </p:cNvPr>
          <p:cNvSpPr/>
          <p:nvPr/>
        </p:nvSpPr>
        <p:spPr>
          <a:xfrm>
            <a:off x="1319181" y="2023916"/>
            <a:ext cx="421767" cy="19127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88D252-6211-A97D-2557-E3FE997BA0B9}"/>
              </a:ext>
            </a:extLst>
          </p:cNvPr>
          <p:cNvSpPr txBox="1"/>
          <p:nvPr/>
        </p:nvSpPr>
        <p:spPr>
          <a:xfrm>
            <a:off x="1062629" y="1731131"/>
            <a:ext cx="9923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accent1"/>
                </a:solidFill>
                <a:effectLst/>
              </a:rPr>
              <a:t>input </a:t>
            </a:r>
            <a:r>
              <a:rPr lang="ko-KR" altLang="en-US" sz="1400" dirty="0">
                <a:solidFill>
                  <a:schemeClr val="accent1"/>
                </a:solidFill>
                <a:effectLst/>
              </a:rPr>
              <a:t>노상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7FD537-A01F-FA04-17E2-9BA453CC6EF8}"/>
              </a:ext>
            </a:extLst>
          </p:cNvPr>
          <p:cNvSpPr txBox="1"/>
          <p:nvPr/>
        </p:nvSpPr>
        <p:spPr>
          <a:xfrm>
            <a:off x="11278091" y="1721761"/>
            <a:ext cx="9923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accent1"/>
                </a:solidFill>
              </a:rPr>
              <a:t>i</a:t>
            </a:r>
            <a:r>
              <a:rPr lang="en-US" altLang="ko-KR" sz="1400" dirty="0">
                <a:solidFill>
                  <a:schemeClr val="accent1"/>
                </a:solidFill>
                <a:effectLst/>
              </a:rPr>
              <a:t>nput </a:t>
            </a:r>
            <a:r>
              <a:rPr lang="ko-KR" altLang="en-US" sz="1400" dirty="0">
                <a:solidFill>
                  <a:schemeClr val="accent1"/>
                </a:solidFill>
                <a:effectLst/>
              </a:rPr>
              <a:t>종로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E14270F-7850-ED0B-BB67-E2096D34F292}"/>
              </a:ext>
            </a:extLst>
          </p:cNvPr>
          <p:cNvSpPr/>
          <p:nvPr/>
        </p:nvSpPr>
        <p:spPr>
          <a:xfrm>
            <a:off x="1173292" y="2272219"/>
            <a:ext cx="479834" cy="8353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032CB71C-692A-1CA7-BE3C-0B5EA45C9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709" y="1997547"/>
            <a:ext cx="1052693" cy="63035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C6D4A095-CA1F-07DD-057C-9F164BB740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187" y="1981814"/>
            <a:ext cx="1052693" cy="64049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F832AF5-54A3-8640-A8D5-12F617C868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159" y="1987197"/>
            <a:ext cx="1228582" cy="629726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3154625C-9232-2754-3585-7C53B43149E4}"/>
              </a:ext>
            </a:extLst>
          </p:cNvPr>
          <p:cNvSpPr/>
          <p:nvPr/>
        </p:nvSpPr>
        <p:spPr>
          <a:xfrm>
            <a:off x="11651434" y="2023916"/>
            <a:ext cx="421767" cy="19127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A05DD96-8026-2456-F5D9-061614109978}"/>
              </a:ext>
            </a:extLst>
          </p:cNvPr>
          <p:cNvSpPr/>
          <p:nvPr/>
        </p:nvSpPr>
        <p:spPr>
          <a:xfrm>
            <a:off x="11534366" y="2272219"/>
            <a:ext cx="479834" cy="8353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CA82228B-30F9-850D-2F06-7EF25D76E2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223" y="1979820"/>
            <a:ext cx="1041230" cy="62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03E45E-16F0-C7DC-265E-1A56F3770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27906"/>
            <a:ext cx="12014200" cy="591949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B58F7D2-8373-D5A1-AECE-1F35AF3A6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097" y="1870155"/>
            <a:ext cx="1047838" cy="62491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79A59CB-DFB7-5E09-7F34-AC5521990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777" y="1879344"/>
            <a:ext cx="1036685" cy="61572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18389DA-14DD-7945-5C26-C375D41E74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305" y="1880545"/>
            <a:ext cx="1036685" cy="6120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5499A04-B5D4-68F5-F25D-32FAC96ABE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443" y="1887226"/>
            <a:ext cx="1053680" cy="6120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2BA7BF1-8992-589C-15D3-1573AC4A42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967" y="1880545"/>
            <a:ext cx="1047838" cy="62491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2DFE2EE-C4D0-320E-8FDD-C5E2611466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669" y="1876873"/>
            <a:ext cx="1036685" cy="62450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3EF9B93-02DB-BCE3-52FF-BCB36368B0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413" y="1885836"/>
            <a:ext cx="1047838" cy="61860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18B31B0-5D91-5094-091D-7F064955B3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47" y="1312840"/>
            <a:ext cx="320218" cy="6589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B401A1-A0E2-9CEA-FA85-68FA23FFA2DF}"/>
              </a:ext>
            </a:extLst>
          </p:cNvPr>
          <p:cNvSpPr txBox="1"/>
          <p:nvPr/>
        </p:nvSpPr>
        <p:spPr>
          <a:xfrm>
            <a:off x="329610" y="111525"/>
            <a:ext cx="2795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</a:t>
            </a:r>
            <a:r>
              <a:rPr lang="en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</a:t>
            </a:r>
            <a:r>
              <a:rPr lang="en" altLang="ko-KR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  a  t   a</a:t>
            </a:r>
            <a:endParaRPr lang="ko-KR" altLang="en-US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67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E7979D-4336-184E-3782-9D0E10828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07211"/>
            <a:ext cx="12014200" cy="593826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D972EEF-17A6-2D22-BF56-ED9F51541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431" y="1892919"/>
            <a:ext cx="1007048" cy="59310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C5573B4-3A6A-EEDA-00C1-E9CD722D6A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96" y="1884218"/>
            <a:ext cx="1029875" cy="61168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E902653-3185-98AF-615C-FBA156A5E5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331" y="1890779"/>
            <a:ext cx="1029869" cy="59295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7E5E6DB-F09D-E7C8-A631-33EEBD9909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735" y="1885625"/>
            <a:ext cx="1028000" cy="59810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C90BBFA-0E99-C8D6-D81A-C31EAE49C1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060" y="1885625"/>
            <a:ext cx="1027999" cy="60433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E7BB04F-CBD1-98DC-86E1-C16466C74C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077" y="1878060"/>
            <a:ext cx="1038584" cy="619397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1747DF-AB63-87A7-2964-C9CE2F71BD55}"/>
              </a:ext>
            </a:extLst>
          </p:cNvPr>
          <p:cNvSpPr/>
          <p:nvPr/>
        </p:nvSpPr>
        <p:spPr>
          <a:xfrm>
            <a:off x="255226" y="2164800"/>
            <a:ext cx="659174" cy="300354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A5B665-416E-F8CE-4971-D430F37EABBC}"/>
              </a:ext>
            </a:extLst>
          </p:cNvPr>
          <p:cNvSpPr/>
          <p:nvPr/>
        </p:nvSpPr>
        <p:spPr>
          <a:xfrm>
            <a:off x="1666707" y="2164800"/>
            <a:ext cx="302849" cy="300354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8896DD6-C27E-E9AA-8527-4DBCD7329517}"/>
              </a:ext>
            </a:extLst>
          </p:cNvPr>
          <p:cNvSpPr/>
          <p:nvPr/>
        </p:nvSpPr>
        <p:spPr>
          <a:xfrm>
            <a:off x="289603" y="1899451"/>
            <a:ext cx="601937" cy="20037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230C623-939A-3716-6F56-598109EFE62B}"/>
              </a:ext>
            </a:extLst>
          </p:cNvPr>
          <p:cNvSpPr/>
          <p:nvPr/>
        </p:nvSpPr>
        <p:spPr>
          <a:xfrm>
            <a:off x="1705092" y="1892919"/>
            <a:ext cx="601937" cy="20037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1400" dirty="0">
              <a:solidFill>
                <a:srgbClr val="0070C0"/>
              </a:solidFill>
              <a:effectLst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FD361A-0C95-112E-938B-61E1DE2EDAE4}"/>
              </a:ext>
            </a:extLst>
          </p:cNvPr>
          <p:cNvSpPr txBox="1"/>
          <p:nvPr/>
        </p:nvSpPr>
        <p:spPr>
          <a:xfrm>
            <a:off x="1482613" y="1637892"/>
            <a:ext cx="1165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>
                <a:solidFill>
                  <a:schemeClr val="accent1"/>
                </a:solidFill>
                <a:effectLst/>
              </a:rPr>
              <a:t>input </a:t>
            </a:r>
            <a:r>
              <a:rPr lang="ko-KR" altLang="en-US" sz="1400" dirty="0">
                <a:solidFill>
                  <a:schemeClr val="accent1"/>
                </a:solidFill>
                <a:effectLst/>
              </a:rPr>
              <a:t>엘피지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BA7BFE-9057-36D9-4D06-2199E077FF99}"/>
              </a:ext>
            </a:extLst>
          </p:cNvPr>
          <p:cNvSpPr txBox="1"/>
          <p:nvPr/>
        </p:nvSpPr>
        <p:spPr>
          <a:xfrm>
            <a:off x="-24947" y="1612283"/>
            <a:ext cx="1165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accent1"/>
                </a:solidFill>
                <a:effectLst/>
              </a:rPr>
              <a:t>input </a:t>
            </a:r>
            <a:r>
              <a:rPr lang="ko-KR" altLang="en-US" sz="1400" dirty="0">
                <a:solidFill>
                  <a:schemeClr val="accent1"/>
                </a:solidFill>
                <a:effectLst/>
              </a:rPr>
              <a:t>강동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F226D-0C9C-587D-DE47-C63E11727402}"/>
              </a:ext>
            </a:extLst>
          </p:cNvPr>
          <p:cNvSpPr txBox="1"/>
          <p:nvPr/>
        </p:nvSpPr>
        <p:spPr>
          <a:xfrm>
            <a:off x="329610" y="111525"/>
            <a:ext cx="2795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</a:t>
            </a:r>
            <a:r>
              <a:rPr lang="en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</a:t>
            </a:r>
            <a:r>
              <a:rPr lang="en" altLang="ko-KR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  a  t   a</a:t>
            </a:r>
            <a:endParaRPr lang="ko-KR" altLang="en-US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04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A8E474A-6ECB-442D-8A42-7881F4DFBB2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EF8051-9646-4552-BE57-7D95D1538BA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E9C14-F0DB-3CE7-258A-67C881E79BFD}"/>
              </a:ext>
            </a:extLst>
          </p:cNvPr>
          <p:cNvSpPr/>
          <p:nvPr/>
        </p:nvSpPr>
        <p:spPr>
          <a:xfrm>
            <a:off x="9968753" y="6553200"/>
            <a:ext cx="2223247" cy="292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2D990-A120-6322-C219-89806C9F03D1}"/>
              </a:ext>
            </a:extLst>
          </p:cNvPr>
          <p:cNvSpPr txBox="1"/>
          <p:nvPr/>
        </p:nvSpPr>
        <p:spPr>
          <a:xfrm>
            <a:off x="4029645" y="3244334"/>
            <a:ext cx="431050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dirty="0">
                <a:hlinkClick r:id="rId2"/>
              </a:rPr>
              <a:t>https://namil0717.shinyapps.io/seoulparea/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68C74-D837-EA59-A26A-9565273D41AB}"/>
              </a:ext>
            </a:extLst>
          </p:cNvPr>
          <p:cNvSpPr txBox="1"/>
          <p:nvPr/>
        </p:nvSpPr>
        <p:spPr>
          <a:xfrm>
            <a:off x="329610" y="111525"/>
            <a:ext cx="3847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소개</a:t>
            </a:r>
            <a:r>
              <a:rPr lang="en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</a:t>
            </a:r>
            <a:r>
              <a:rPr lang="ko-KR" altLang="en-US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샤이니   배포   주소</a:t>
            </a:r>
          </a:p>
        </p:txBody>
      </p:sp>
    </p:spTree>
    <p:extLst>
      <p:ext uri="{BB962C8B-B14F-4D97-AF65-F5344CB8AC3E}">
        <p14:creationId xmlns:p14="http://schemas.microsoft.com/office/powerpoint/2010/main" val="71806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3C7044-85DF-48C4-9801-150B8C9FD8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23652-B173-7055-5FC8-5B3AF03FD29E}"/>
              </a:ext>
            </a:extLst>
          </p:cNvPr>
          <p:cNvSpPr txBox="1"/>
          <p:nvPr/>
        </p:nvSpPr>
        <p:spPr>
          <a:xfrm>
            <a:off x="4875307" y="125820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서울시 공영주차장 분석</a:t>
            </a:r>
          </a:p>
        </p:txBody>
      </p:sp>
      <p:cxnSp>
        <p:nvCxnSpPr>
          <p:cNvPr id="7" name="직선 연결선 4">
            <a:extLst>
              <a:ext uri="{FF2B5EF4-FFF2-40B4-BE49-F238E27FC236}">
                <a16:creationId xmlns:a16="http://schemas.microsoft.com/office/drawing/2014/main" id="{6D5EA1B2-92DB-BFE3-519D-9A1949706B50}"/>
              </a:ext>
            </a:extLst>
          </p:cNvPr>
          <p:cNvCxnSpPr>
            <a:cxnSpLocks/>
          </p:cNvCxnSpPr>
          <p:nvPr/>
        </p:nvCxnSpPr>
        <p:spPr>
          <a:xfrm>
            <a:off x="4875307" y="572904"/>
            <a:ext cx="259878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029C72-72C8-8CC6-3267-72C0FB081140}"/>
              </a:ext>
            </a:extLst>
          </p:cNvPr>
          <p:cNvSpPr txBox="1"/>
          <p:nvPr/>
        </p:nvSpPr>
        <p:spPr>
          <a:xfrm>
            <a:off x="5447438" y="649750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비정형 데이터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144151-9051-A8A7-4EC0-6481D36DE308}"/>
              </a:ext>
            </a:extLst>
          </p:cNvPr>
          <p:cNvSpPr txBox="1"/>
          <p:nvPr/>
        </p:nvSpPr>
        <p:spPr>
          <a:xfrm>
            <a:off x="4593024" y="2737502"/>
            <a:ext cx="30059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</a:rPr>
              <a:t>Thank You !</a:t>
            </a:r>
          </a:p>
          <a:p>
            <a:pPr algn="ctr"/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6229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winterdr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345C"/>
      </a:accent1>
      <a:accent2>
        <a:srgbClr val="326393"/>
      </a:accent2>
      <a:accent3>
        <a:srgbClr val="6D8CAC"/>
      </a:accent3>
      <a:accent4>
        <a:srgbClr val="C9CACF"/>
      </a:accent4>
      <a:accent5>
        <a:srgbClr val="CAB5BD"/>
      </a:accent5>
      <a:accent6>
        <a:srgbClr val="F1ECE6"/>
      </a:accent6>
      <a:hlink>
        <a:srgbClr val="3F3F3F"/>
      </a:hlink>
      <a:folHlink>
        <a:srgbClr val="3F3F3F"/>
      </a:folHlink>
    </a:clrScheme>
    <a:fontScheme name="마루 부리 Beta">
      <a:majorFont>
        <a:latin typeface="마루 부리 Beta"/>
        <a:ea typeface="마루 부리 Beta"/>
        <a:cs typeface=""/>
      </a:majorFont>
      <a:minorFont>
        <a:latin typeface="마루 부리 Beta"/>
        <a:ea typeface="마루 부리 Bet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489</Words>
  <Application>Microsoft Macintosh PowerPoint</Application>
  <PresentationFormat>와이드스크린</PresentationFormat>
  <Paragraphs>172</Paragraphs>
  <Slides>27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마루 부리 Beta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 새별</dc:creator>
  <cp:lastModifiedBy>강남일</cp:lastModifiedBy>
  <cp:revision>27</cp:revision>
  <dcterms:created xsi:type="dcterms:W3CDTF">2020-11-18T01:48:02Z</dcterms:created>
  <dcterms:modified xsi:type="dcterms:W3CDTF">2023-06-02T06:43:45Z</dcterms:modified>
</cp:coreProperties>
</file>