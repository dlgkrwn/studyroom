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8" r:id="rId3"/>
    <p:sldId id="261" r:id="rId4"/>
    <p:sldId id="257" r:id="rId5"/>
    <p:sldId id="259" r:id="rId6"/>
    <p:sldId id="297" r:id="rId7"/>
    <p:sldId id="284" r:id="rId8"/>
    <p:sldId id="286" r:id="rId9"/>
    <p:sldId id="288" r:id="rId10"/>
    <p:sldId id="300" r:id="rId11"/>
    <p:sldId id="301" r:id="rId12"/>
    <p:sldId id="293" r:id="rId13"/>
    <p:sldId id="287" r:id="rId14"/>
    <p:sldId id="260" r:id="rId15"/>
    <p:sldId id="262" r:id="rId16"/>
    <p:sldId id="263" r:id="rId17"/>
    <p:sldId id="264" r:id="rId18"/>
    <p:sldId id="298" r:id="rId19"/>
    <p:sldId id="271" r:id="rId20"/>
    <p:sldId id="294" r:id="rId21"/>
    <p:sldId id="295" r:id="rId22"/>
    <p:sldId id="266" r:id="rId23"/>
    <p:sldId id="299" r:id="rId24"/>
    <p:sldId id="270" r:id="rId25"/>
    <p:sldId id="276" r:id="rId26"/>
    <p:sldId id="277" r:id="rId27"/>
    <p:sldId id="268" r:id="rId28"/>
    <p:sldId id="280" r:id="rId29"/>
    <p:sldId id="279" r:id="rId30"/>
    <p:sldId id="269" r:id="rId31"/>
    <p:sldId id="283" r:id="rId32"/>
    <p:sldId id="274" r:id="rId33"/>
    <p:sldId id="275" r:id="rId34"/>
    <p:sldId id="282" r:id="rId35"/>
    <p:sldId id="281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C96033-69C9-4455-B666-299A4FC1CE00}" v="48" dt="2023-08-30T08:14:04.8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202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141777-17A3-4FB1-AAC8-0997C8EF393B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BAA4B0-7DCF-4229-B92A-CB5F41B5A2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314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AA4B0-7DCF-4229-B92A-CB5F41B5A2C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5383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AA4B0-7DCF-4229-B92A-CB5F41B5A2C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740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AA4B0-7DCF-4229-B92A-CB5F41B5A2C8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892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14B83E-D19D-5983-C9A9-6552BE7F9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2BB288-01DC-D0AF-6551-CAE479D59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A61BC0-525A-8486-8BEA-9A6C29239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5D0B-61AC-40B8-A2F0-7060E2A18CE7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2A57AC-87AC-A41B-BE8D-B8CA5BD1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093653-55F6-8AB6-BD03-FDE3862BD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A9DDF-DD73-4AB9-9E92-AD87E706C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998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BA8C4-ED8C-097A-1BED-74FACD96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2409D9-9661-4A89-B5BB-5EAD795FE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FE6B28-96CF-F8F9-7261-922B7E45E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5D0B-61AC-40B8-A2F0-7060E2A18CE7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2D5A64-99E7-E06F-F577-8155E2CC4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321D95-0E00-4A1E-C873-F62E55B6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A9DDF-DD73-4AB9-9E92-AD87E706C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6941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74F14-1E28-DF11-7017-986CE4D88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A42D12-8FAF-6B6F-81A8-75ABE2E5B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B1BAC4-9A2D-838C-4702-40E772EA4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5D0B-61AC-40B8-A2F0-7060E2A18CE7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D46903-134B-ACF8-026E-913D85653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93237F-7006-9D4A-B9AD-B896C0A98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A9DDF-DD73-4AB9-9E92-AD87E706C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919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9489F2-B2D9-4CC4-0B45-458394765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34C9E7-A7FB-851E-D262-424E54E0E4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BADA2F-F474-FE68-473C-3C1424F28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E9AF6C-975F-BDF5-0B2A-AFE4F4699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5D0B-61AC-40B8-A2F0-7060E2A18CE7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A25285-9CDE-6108-1E03-B3BE436F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AD8D2E-4F23-B8D8-4991-B9E7BE3E9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A9DDF-DD73-4AB9-9E92-AD87E706C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245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2CE5E2-E3F3-D957-A741-A19AFB0ED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A4280D-3607-456B-07F6-3EF6A6CAF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B88E48-617E-5584-519F-392BF0D8A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03D8BF-0A51-3DC2-5B35-248E3643D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38C65A-2356-D22D-DE1C-4518F9972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5449FE3-490C-65DC-5EF9-1D3425C58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5D0B-61AC-40B8-A2F0-7060E2A18CE7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E9CE2F0-E14B-D4BD-15AE-829C5DD94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89B1820-7E22-1482-E683-507C9356B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A9DDF-DD73-4AB9-9E92-AD87E706C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04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D6325D-05E5-07C0-4487-C32391DEF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25FCCEA-297E-982A-4E55-BB04E10C2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5D0B-61AC-40B8-A2F0-7060E2A18CE7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415382F-32A9-CCCF-59F4-0EC756868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89A4B4-B440-6FAD-4DD3-9D45AEF0B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A9DDF-DD73-4AB9-9E92-AD87E706C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392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EB52A51-892D-CC46-7107-539F35D6F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5D0B-61AC-40B8-A2F0-7060E2A18CE7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F042ED2-B8CF-A88A-E1D0-49FFDC38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9CC5AA-1976-BF6E-15A8-864965273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A9DDF-DD73-4AB9-9E92-AD87E706C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03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41118-E688-19AD-AC72-6484D832A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046879-0CAF-ECD1-E61E-51B242E86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C3438E-AD4F-2915-AC3F-BE93E0F98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082E03-18F5-FA3A-6CD0-376B1509B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5D0B-61AC-40B8-A2F0-7060E2A18CE7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C3FF4A-D18D-1DB6-58A4-E33EAB473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BE4FB9-87DB-6402-4045-77F1B0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A9DDF-DD73-4AB9-9E92-AD87E706C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803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BE9D1A-3B7B-F3F7-137C-C55219024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14BD94-1CAE-99A5-7D24-A6DFCE47F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D44786-B92B-D485-E9E1-6BCD8BEB2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CE208C-EF10-E494-F1DB-13BEDD6F6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5D0B-61AC-40B8-A2F0-7060E2A18CE7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1B8FA1-F5D9-61AE-D1A1-445C8A67C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904EEC-F894-9661-AE07-7B192E976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A9DDF-DD73-4AB9-9E92-AD87E706C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152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F48D09-C09A-B4AB-93C3-20045515E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3ED9F8-0F62-C769-83B9-2DC44A4E7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A86891-DAF0-3FC5-7FFA-3E5A2A5B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5D0B-61AC-40B8-A2F0-7060E2A18CE7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96A7EA-EA86-5AB6-4442-3389A0EE3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43D61B-6011-5086-465E-2BF3BB33A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A9DDF-DD73-4AB9-9E92-AD87E706C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368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B0594B5-C28C-2C12-3401-8DDC2A6C52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1D194B-0FB2-D59D-3702-D63861A0C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B01789-4692-83F0-1788-C8B86BF9F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5D0B-61AC-40B8-A2F0-7060E2A18CE7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620AF4-ADB6-99A4-DAA7-07299DC02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FE084B-083D-D0D6-7008-5A158EC15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A9DDF-DD73-4AB9-9E92-AD87E706C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119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633BB83-49CF-D068-AADF-6220BE6E4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B8FB53-D86C-510F-5B30-D62810100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88B95E-8627-C93E-C2C5-19E32A65AE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B5D0B-61AC-40B8-A2F0-7060E2A18CE7}" type="datetimeFigureOut">
              <a:rPr lang="ko-KR" altLang="en-US" smtClean="0"/>
              <a:t>2023-08-30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935D1D-19E7-0721-029C-437243C9F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ABEE-9BE2-8C14-E2C0-D73F94A71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A9DDF-DD73-4AB9-9E92-AD87E706C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644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4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.png"/><Relationship Id="rId5" Type="http://schemas.openxmlformats.org/officeDocument/2006/relationships/image" Target="../media/image44.png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3.png"/><Relationship Id="rId4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svg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3ECE86E-477A-4E06-88A7-71916AC49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altLang="ko-KR" sz="7200" b="1" dirty="0"/>
              <a:t>KBO</a:t>
            </a:r>
            <a:r>
              <a:rPr lang="ko-KR" altLang="en-US" sz="7200" b="1" dirty="0"/>
              <a:t>분석 추천 시스템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285F8C-85F6-4617-C228-139467206A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ko-KR" altLang="en-US" sz="2800" dirty="0"/>
              <a:t>송정훈 </a:t>
            </a:r>
            <a:r>
              <a:rPr lang="ko-KR" altLang="en-US" sz="2800" dirty="0" err="1"/>
              <a:t>문가빈</a:t>
            </a:r>
            <a:r>
              <a:rPr lang="ko-KR" altLang="en-US" sz="2800" dirty="0"/>
              <a:t> </a:t>
            </a:r>
            <a:r>
              <a:rPr lang="ko-KR" altLang="en-US" sz="2800" dirty="0" err="1"/>
              <a:t>이학주</a:t>
            </a:r>
            <a:r>
              <a:rPr lang="ko-KR" altLang="en-US" sz="2800" dirty="0"/>
              <a:t> 이윤지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665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8D01D379-518F-F433-67BB-B8CCA95EB405}"/>
              </a:ext>
            </a:extLst>
          </p:cNvPr>
          <p:cNvSpPr txBox="1">
            <a:spLocks/>
          </p:cNvSpPr>
          <p:nvPr/>
        </p:nvSpPr>
        <p:spPr>
          <a:xfrm>
            <a:off x="838200" y="8800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/>
              <a:t>목차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C0E18A6A-7ABD-5246-BABB-A9C34E1DC1F0}"/>
              </a:ext>
            </a:extLst>
          </p:cNvPr>
          <p:cNvSpPr/>
          <p:nvPr/>
        </p:nvSpPr>
        <p:spPr>
          <a:xfrm>
            <a:off x="9382543" y="2222487"/>
            <a:ext cx="2267967" cy="22679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4.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서비스 활용방안 및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기대효과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E1F53EB-3277-7C22-05E2-5E773B940045}"/>
              </a:ext>
            </a:extLst>
          </p:cNvPr>
          <p:cNvSpPr/>
          <p:nvPr/>
        </p:nvSpPr>
        <p:spPr>
          <a:xfrm>
            <a:off x="6576394" y="2222487"/>
            <a:ext cx="2267967" cy="22679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3. 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시각화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및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분석 결과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A9B4672-5665-FC0B-2A06-6621308F1D7C}"/>
              </a:ext>
            </a:extLst>
          </p:cNvPr>
          <p:cNvSpPr/>
          <p:nvPr/>
        </p:nvSpPr>
        <p:spPr>
          <a:xfrm>
            <a:off x="3770245" y="2222487"/>
            <a:ext cx="2267967" cy="22679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2.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활용데이터 및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데이터 처리방안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3EDACE4-681A-F062-AC7A-785C96419C11}"/>
              </a:ext>
            </a:extLst>
          </p:cNvPr>
          <p:cNvSpPr/>
          <p:nvPr/>
        </p:nvSpPr>
        <p:spPr>
          <a:xfrm>
            <a:off x="838200" y="2222487"/>
            <a:ext cx="2267967" cy="22679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1.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추진배경</a:t>
            </a:r>
          </a:p>
        </p:txBody>
      </p:sp>
    </p:spTree>
    <p:extLst>
      <p:ext uri="{BB962C8B-B14F-4D97-AF65-F5344CB8AC3E}">
        <p14:creationId xmlns:p14="http://schemas.microsoft.com/office/powerpoint/2010/main" val="3197427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558D10-AF10-827D-A04C-353216897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6000" b="1" dirty="0"/>
              <a:t>1.</a:t>
            </a:r>
            <a:r>
              <a:rPr lang="ko-KR" altLang="en-US" sz="6000" b="1" dirty="0"/>
              <a:t> 추진배경</a:t>
            </a:r>
          </a:p>
        </p:txBody>
      </p:sp>
    </p:spTree>
    <p:extLst>
      <p:ext uri="{BB962C8B-B14F-4D97-AF65-F5344CB8AC3E}">
        <p14:creationId xmlns:p14="http://schemas.microsoft.com/office/powerpoint/2010/main" val="1549593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A7EF208-EE11-4EB3-360C-CB9CB9A26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b="1" dirty="0"/>
              <a:t>1-1.</a:t>
            </a:r>
            <a:r>
              <a:rPr lang="ko-KR" altLang="en-US" sz="4000" b="1" dirty="0"/>
              <a:t> 추진배경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AD8BAF-9D8A-04F1-2F16-6A6CFB520E23}"/>
              </a:ext>
            </a:extLst>
          </p:cNvPr>
          <p:cNvSpPr txBox="1"/>
          <p:nvPr/>
        </p:nvSpPr>
        <p:spPr>
          <a:xfrm>
            <a:off x="6397490" y="2095792"/>
            <a:ext cx="5309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코로나 이후 </a:t>
            </a:r>
            <a:r>
              <a:rPr lang="en-US" altLang="ko-KR" dirty="0"/>
              <a:t>K-sports </a:t>
            </a:r>
            <a:r>
              <a:rPr lang="ko-KR" altLang="en-US" dirty="0"/>
              <a:t>관중 수 매년 증가</a:t>
            </a:r>
            <a:endParaRPr lang="en-US" altLang="ko-KR" dirty="0"/>
          </a:p>
          <a:p>
            <a:r>
              <a:rPr lang="en-US" altLang="ko-KR" dirty="0"/>
              <a:t>= </a:t>
            </a:r>
            <a:r>
              <a:rPr lang="ko-KR" altLang="en-US" dirty="0"/>
              <a:t>대중의 </a:t>
            </a:r>
            <a:r>
              <a:rPr lang="ko-KR" altLang="en-US" b="1" dirty="0"/>
              <a:t>관심도 증가</a:t>
            </a:r>
            <a:endParaRPr lang="en-US" altLang="ko-KR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FAC566-0B65-7403-9080-9D0870E1C662}"/>
              </a:ext>
            </a:extLst>
          </p:cNvPr>
          <p:cNvSpPr txBox="1"/>
          <p:nvPr/>
        </p:nvSpPr>
        <p:spPr>
          <a:xfrm>
            <a:off x="6384758" y="3136909"/>
            <a:ext cx="56789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야구 경기는 응원 </a:t>
            </a:r>
            <a:r>
              <a:rPr lang="ko-KR" altLang="en-US" dirty="0" err="1"/>
              <a:t>팬덤</a:t>
            </a:r>
            <a:r>
              <a:rPr lang="ko-KR" altLang="en-US" dirty="0"/>
              <a:t> 문화가 주를 이룸</a:t>
            </a:r>
            <a:endParaRPr lang="en-US" altLang="ko-KR" dirty="0"/>
          </a:p>
          <a:p>
            <a:r>
              <a:rPr lang="en-US" altLang="ko-KR" dirty="0"/>
              <a:t>But, </a:t>
            </a:r>
            <a:r>
              <a:rPr lang="ko-KR" altLang="en-US" dirty="0"/>
              <a:t>야구를 잘 모르는 사람들 </a:t>
            </a:r>
            <a:r>
              <a:rPr lang="en-US" altLang="ko-KR" dirty="0"/>
              <a:t>or </a:t>
            </a:r>
            <a:r>
              <a:rPr lang="ko-KR" altLang="en-US" dirty="0"/>
              <a:t>팀을 바꾸고 싶지만 다른 팀을 잘 모르는 사람들은 응원할 팀을 고르는데 어려움이 있음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9C8F7F-7C49-57D5-B653-2957FC91AC16}"/>
              </a:ext>
            </a:extLst>
          </p:cNvPr>
          <p:cNvSpPr txBox="1"/>
          <p:nvPr/>
        </p:nvSpPr>
        <p:spPr>
          <a:xfrm>
            <a:off x="1748588" y="5501168"/>
            <a:ext cx="8758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따라서</a:t>
            </a:r>
            <a:r>
              <a:rPr lang="en-US" altLang="ko-KR" b="1" dirty="0"/>
              <a:t>,</a:t>
            </a:r>
            <a:r>
              <a:rPr lang="ko-KR" altLang="en-US" b="1" dirty="0"/>
              <a:t> 팀 선택 관련 키워드를 제시하고 사용자가 키워드를 직접 선택하여 자신의 성향에 맞는 팀 고를 수 있게 도움을 주는 </a:t>
            </a:r>
            <a:r>
              <a:rPr lang="en-US" altLang="ko-KR" b="1" dirty="0">
                <a:solidFill>
                  <a:schemeClr val="accent2"/>
                </a:solidFill>
              </a:rPr>
              <a:t>KBO </a:t>
            </a:r>
            <a:r>
              <a:rPr lang="ko-KR" altLang="en-US" b="1" dirty="0">
                <a:solidFill>
                  <a:schemeClr val="accent2"/>
                </a:solidFill>
              </a:rPr>
              <a:t>팀 추천 시스템</a:t>
            </a:r>
            <a:r>
              <a:rPr lang="ko-KR" altLang="en-US" b="1" dirty="0"/>
              <a:t> 생각하게 됨</a:t>
            </a:r>
            <a:endParaRPr lang="en-US" altLang="ko-KR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451918E-D9E6-E7B4-39CA-83D02AB6A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05" y="1549444"/>
            <a:ext cx="6003953" cy="314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633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타원 11">
            <a:extLst>
              <a:ext uri="{FF2B5EF4-FFF2-40B4-BE49-F238E27FC236}">
                <a16:creationId xmlns:a16="http://schemas.microsoft.com/office/drawing/2014/main" id="{6ECE29AE-3AC6-730C-09B0-E95C4449BD29}"/>
              </a:ext>
            </a:extLst>
          </p:cNvPr>
          <p:cNvSpPr/>
          <p:nvPr/>
        </p:nvSpPr>
        <p:spPr>
          <a:xfrm>
            <a:off x="9293097" y="1949109"/>
            <a:ext cx="2267967" cy="22679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D87A9D2-24D5-22F2-736A-AB510C9F4D3A}"/>
              </a:ext>
            </a:extLst>
          </p:cNvPr>
          <p:cNvSpPr/>
          <p:nvPr/>
        </p:nvSpPr>
        <p:spPr>
          <a:xfrm>
            <a:off x="6380618" y="1949109"/>
            <a:ext cx="2267967" cy="22679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5AF538E-DCEF-8304-6010-DD5E6A674675}"/>
              </a:ext>
            </a:extLst>
          </p:cNvPr>
          <p:cNvSpPr/>
          <p:nvPr/>
        </p:nvSpPr>
        <p:spPr>
          <a:xfrm>
            <a:off x="3427359" y="1949109"/>
            <a:ext cx="2267967" cy="22679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7FD0208-46F8-6440-091A-B6840E567013}"/>
              </a:ext>
            </a:extLst>
          </p:cNvPr>
          <p:cNvSpPr/>
          <p:nvPr/>
        </p:nvSpPr>
        <p:spPr>
          <a:xfrm>
            <a:off x="557360" y="1949109"/>
            <a:ext cx="2267967" cy="22679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A7EF208-EE11-4EB3-360C-CB9CB9A26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b="1" dirty="0"/>
              <a:t>1-2.</a:t>
            </a:r>
            <a:r>
              <a:rPr lang="ko-KR" altLang="en-US" sz="4000" b="1" dirty="0"/>
              <a:t> 계획</a:t>
            </a:r>
            <a:r>
              <a:rPr lang="en-US" altLang="ko-KR" sz="4000" b="1" dirty="0"/>
              <a:t>&amp;</a:t>
            </a:r>
            <a:r>
              <a:rPr lang="ko-KR" altLang="en-US" sz="4000" b="1" dirty="0"/>
              <a:t>연구목표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DACA47-65D1-1E27-AA4E-1AAA36A475DC}"/>
              </a:ext>
            </a:extLst>
          </p:cNvPr>
          <p:cNvSpPr txBox="1"/>
          <p:nvPr/>
        </p:nvSpPr>
        <p:spPr>
          <a:xfrm>
            <a:off x="1022108" y="2729149"/>
            <a:ext cx="13384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야구 성적 데이터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B4DCBB-0BB0-C788-19D7-7EA347F344AC}"/>
              </a:ext>
            </a:extLst>
          </p:cNvPr>
          <p:cNvSpPr txBox="1"/>
          <p:nvPr/>
        </p:nvSpPr>
        <p:spPr>
          <a:xfrm>
            <a:off x="3752961" y="2729149"/>
            <a:ext cx="16167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팀 </a:t>
            </a:r>
            <a:r>
              <a:rPr lang="en-US" altLang="ko-KR" sz="2000" dirty="0"/>
              <a:t>/ </a:t>
            </a:r>
            <a:r>
              <a:rPr lang="ko-KR" altLang="en-US" sz="2000" dirty="0"/>
              <a:t>선수</a:t>
            </a:r>
            <a:endParaRPr lang="en-US" altLang="ko-KR" sz="2000" dirty="0"/>
          </a:p>
          <a:p>
            <a:pPr algn="ctr"/>
            <a:r>
              <a:rPr lang="ko-KR" altLang="en-US" sz="2000" dirty="0"/>
              <a:t>데이터 분석</a:t>
            </a:r>
            <a:endParaRPr lang="en-US" altLang="ko-KR" sz="2000" dirty="0"/>
          </a:p>
          <a:p>
            <a:pPr algn="ctr"/>
            <a:r>
              <a:rPr lang="ko-KR" altLang="en-US" sz="2000" dirty="0"/>
              <a:t>추출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591534-2F8B-BEB6-4AD6-816DCDF736C3}"/>
              </a:ext>
            </a:extLst>
          </p:cNvPr>
          <p:cNvSpPr txBox="1"/>
          <p:nvPr/>
        </p:nvSpPr>
        <p:spPr>
          <a:xfrm>
            <a:off x="6573696" y="2729149"/>
            <a:ext cx="18818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각 키워드별 데이터 할당</a:t>
            </a:r>
            <a:endParaRPr lang="en-US" altLang="ko-KR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047727-CC8A-BC47-8DE3-01FDAE456992}"/>
              </a:ext>
            </a:extLst>
          </p:cNvPr>
          <p:cNvSpPr txBox="1"/>
          <p:nvPr/>
        </p:nvSpPr>
        <p:spPr>
          <a:xfrm>
            <a:off x="1335984" y="4997116"/>
            <a:ext cx="9520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/>
              <a:t>-) </a:t>
            </a:r>
            <a:r>
              <a:rPr lang="ko-KR" altLang="en-US" sz="3200" b="1" dirty="0"/>
              <a:t>키워드에 맞춰 응원하고자 하는 팀 추천</a:t>
            </a:r>
            <a:endParaRPr lang="en-US" altLang="ko-KR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5B384F-FE5B-BD2A-4E10-01A73E905CDE}"/>
              </a:ext>
            </a:extLst>
          </p:cNvPr>
          <p:cNvSpPr txBox="1"/>
          <p:nvPr/>
        </p:nvSpPr>
        <p:spPr>
          <a:xfrm>
            <a:off x="9125053" y="2575261"/>
            <a:ext cx="26040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데이터</a:t>
            </a:r>
            <a:r>
              <a:rPr lang="en-US" altLang="ko-KR" sz="2000" dirty="0"/>
              <a:t>&amp;</a:t>
            </a:r>
            <a:r>
              <a:rPr lang="ko-KR" altLang="en-US" sz="2000" dirty="0"/>
              <a:t>키워드 </a:t>
            </a:r>
            <a:endParaRPr lang="en-US" altLang="ko-KR" sz="2000" dirty="0"/>
          </a:p>
          <a:p>
            <a:pPr algn="ctr"/>
            <a:r>
              <a:rPr lang="ko-KR" altLang="en-US" sz="2000" dirty="0"/>
              <a:t>통해 </a:t>
            </a:r>
            <a:endParaRPr lang="en-US" altLang="ko-KR" sz="2000" dirty="0"/>
          </a:p>
          <a:p>
            <a:pPr algn="ctr"/>
            <a:r>
              <a:rPr lang="ko-KR" altLang="en-US" sz="2000" dirty="0"/>
              <a:t>최종 추천 팀 도출</a:t>
            </a:r>
            <a:endParaRPr lang="en-US" altLang="ko-KR" sz="2000" dirty="0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524F37A6-E54F-1C0E-33D0-458187260F07}"/>
              </a:ext>
            </a:extLst>
          </p:cNvPr>
          <p:cNvSpPr/>
          <p:nvPr/>
        </p:nvSpPr>
        <p:spPr>
          <a:xfrm>
            <a:off x="2870792" y="2998381"/>
            <a:ext cx="510287" cy="32961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D13C4D27-E1BC-E789-41EC-B8B0EE56D2EB}"/>
              </a:ext>
            </a:extLst>
          </p:cNvPr>
          <p:cNvSpPr/>
          <p:nvPr/>
        </p:nvSpPr>
        <p:spPr>
          <a:xfrm>
            <a:off x="5785265" y="2977041"/>
            <a:ext cx="510287" cy="32961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0BB4AD7C-794B-A3B7-23D2-77AE882EB282}"/>
              </a:ext>
            </a:extLst>
          </p:cNvPr>
          <p:cNvSpPr/>
          <p:nvPr/>
        </p:nvSpPr>
        <p:spPr>
          <a:xfrm>
            <a:off x="8721827" y="2971166"/>
            <a:ext cx="510287" cy="32961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495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D926CF5-665D-972D-3BDB-97B889322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589" y="366809"/>
            <a:ext cx="4132667" cy="1325563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야구 성적 데이터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2CA501DB-E091-BC13-D607-804062C40332}"/>
              </a:ext>
            </a:extLst>
          </p:cNvPr>
          <p:cNvSpPr txBox="1">
            <a:spLocks/>
          </p:cNvSpPr>
          <p:nvPr/>
        </p:nvSpPr>
        <p:spPr>
          <a:xfrm>
            <a:off x="6686125" y="343860"/>
            <a:ext cx="415910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/>
              <a:t>팀 </a:t>
            </a:r>
            <a:r>
              <a:rPr lang="en-US" altLang="ko-KR" sz="3600" b="1" dirty="0"/>
              <a:t>/ </a:t>
            </a:r>
            <a:r>
              <a:rPr lang="ko-KR" altLang="en-US" sz="3600" b="1" dirty="0"/>
              <a:t>선수 데이터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287E57C7-C052-6AB7-1324-451A47D39FC1}"/>
              </a:ext>
            </a:extLst>
          </p:cNvPr>
          <p:cNvSpPr/>
          <p:nvPr/>
        </p:nvSpPr>
        <p:spPr>
          <a:xfrm>
            <a:off x="5512132" y="873732"/>
            <a:ext cx="510287" cy="32961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04D5FE-8C11-6D52-D11E-C8F1184E2849}"/>
              </a:ext>
            </a:extLst>
          </p:cNvPr>
          <p:cNvSpPr txBox="1"/>
          <p:nvPr/>
        </p:nvSpPr>
        <p:spPr>
          <a:xfrm>
            <a:off x="714631" y="1377062"/>
            <a:ext cx="2395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 err="1"/>
              <a:t>선수별</a:t>
            </a:r>
            <a:r>
              <a:rPr lang="ko-KR" altLang="en-US" dirty="0"/>
              <a:t> 공격 데이터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4FBADF-D3E4-095D-9795-08BC0F7BA8E0}"/>
              </a:ext>
            </a:extLst>
          </p:cNvPr>
          <p:cNvSpPr txBox="1"/>
          <p:nvPr/>
        </p:nvSpPr>
        <p:spPr>
          <a:xfrm>
            <a:off x="4069218" y="1431083"/>
            <a:ext cx="2395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 err="1"/>
              <a:t>선수별</a:t>
            </a:r>
            <a:r>
              <a:rPr lang="ko-KR" altLang="en-US" dirty="0"/>
              <a:t> 수비 데이터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34C9D8-EAC9-8EB2-286F-69558B850CFB}"/>
              </a:ext>
            </a:extLst>
          </p:cNvPr>
          <p:cNvSpPr txBox="1"/>
          <p:nvPr/>
        </p:nvSpPr>
        <p:spPr>
          <a:xfrm>
            <a:off x="7750606" y="1431083"/>
            <a:ext cx="2395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 err="1"/>
              <a:t>선수별</a:t>
            </a:r>
            <a:r>
              <a:rPr lang="ko-KR" altLang="en-US" dirty="0"/>
              <a:t> 투수 데이터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A0CA4BD-A792-9395-594B-E6C1B8CB6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6692" y="1826917"/>
            <a:ext cx="2944966" cy="3931936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2295524-54E1-7699-D9EA-F6E736C1E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784" y="1800415"/>
            <a:ext cx="2947510" cy="39584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0552E4C-543D-FBDF-9EB3-EE1435F3FA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4323" y="1800416"/>
            <a:ext cx="2947510" cy="395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901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D926CF5-665D-972D-3BDB-97B889322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589" y="366809"/>
            <a:ext cx="4132667" cy="1325563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야구 성적 데이터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2CA501DB-E091-BC13-D607-804062C40332}"/>
              </a:ext>
            </a:extLst>
          </p:cNvPr>
          <p:cNvSpPr txBox="1">
            <a:spLocks/>
          </p:cNvSpPr>
          <p:nvPr/>
        </p:nvSpPr>
        <p:spPr>
          <a:xfrm>
            <a:off x="6686125" y="343860"/>
            <a:ext cx="415910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/>
              <a:t>팀 </a:t>
            </a:r>
            <a:r>
              <a:rPr lang="en-US" altLang="ko-KR" sz="3600" b="1" dirty="0"/>
              <a:t>/ </a:t>
            </a:r>
            <a:r>
              <a:rPr lang="ko-KR" altLang="en-US" sz="3600" b="1" dirty="0"/>
              <a:t>선수 데이터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287E57C7-C052-6AB7-1324-451A47D39FC1}"/>
              </a:ext>
            </a:extLst>
          </p:cNvPr>
          <p:cNvSpPr/>
          <p:nvPr/>
        </p:nvSpPr>
        <p:spPr>
          <a:xfrm>
            <a:off x="5512132" y="873732"/>
            <a:ext cx="510287" cy="32961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04D5FE-8C11-6D52-D11E-C8F1184E2849}"/>
              </a:ext>
            </a:extLst>
          </p:cNvPr>
          <p:cNvSpPr txBox="1"/>
          <p:nvPr/>
        </p:nvSpPr>
        <p:spPr>
          <a:xfrm>
            <a:off x="886861" y="1332057"/>
            <a:ext cx="2395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팀별 공격 데이터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4FBADF-D3E4-095D-9795-08BC0F7BA8E0}"/>
              </a:ext>
            </a:extLst>
          </p:cNvPr>
          <p:cNvSpPr txBox="1"/>
          <p:nvPr/>
        </p:nvSpPr>
        <p:spPr>
          <a:xfrm>
            <a:off x="4465784" y="1328090"/>
            <a:ext cx="2395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팀별 수비 데이터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34C9D8-EAC9-8EB2-286F-69558B850CFB}"/>
              </a:ext>
            </a:extLst>
          </p:cNvPr>
          <p:cNvSpPr txBox="1"/>
          <p:nvPr/>
        </p:nvSpPr>
        <p:spPr>
          <a:xfrm>
            <a:off x="8160388" y="1334330"/>
            <a:ext cx="2395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팀별 투수 데이터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78382677-8227-4305-FD27-ED39EA278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09" y="1733359"/>
            <a:ext cx="3017720" cy="438593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2AFCD8E-912E-FA52-BB4D-5D216C860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199" y="1742102"/>
            <a:ext cx="3017720" cy="4377196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7CEFF85-5EF4-520A-84BF-17A8E9251D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7779" y="1733359"/>
            <a:ext cx="3513712" cy="438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40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6CB56A4-5749-D958-AEDA-228CC3A63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9336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각 키워드 별 데이터 할당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01ABE2-1B8E-6709-5B32-18330A98646D}"/>
              </a:ext>
            </a:extLst>
          </p:cNvPr>
          <p:cNvSpPr txBox="1"/>
          <p:nvPr/>
        </p:nvSpPr>
        <p:spPr>
          <a:xfrm>
            <a:off x="327913" y="598234"/>
            <a:ext cx="6109252" cy="1354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 algn="just" fontAlgn="base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AutoNum type="arabicParenR"/>
            </a:pPr>
            <a:r>
              <a:rPr lang="ko-KR" altLang="en-US" kern="0" spc="0" dirty="0">
                <a:solidFill>
                  <a:srgbClr val="000000"/>
                </a:solidFill>
                <a:effectLst/>
                <a:latin typeface="+mn-ea"/>
              </a:rPr>
              <a:t>지역 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+mn-ea"/>
              </a:rPr>
              <a:t>연고지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+mn-ea"/>
              </a:rPr>
              <a:t>) -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+mn-ea"/>
              </a:rPr>
              <a:t>팀 별 연고지 데이터</a:t>
            </a:r>
            <a:endParaRPr lang="en-US" altLang="ko-KR" kern="0" dirty="0">
              <a:solidFill>
                <a:srgbClr val="000000"/>
              </a:solidFill>
              <a:latin typeface="+mn-ea"/>
            </a:endParaRPr>
          </a:p>
          <a:p>
            <a:pPr marR="0" algn="just" fontAlgn="base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kern="0" spc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04EEE3-D441-F54D-3084-D66F819D582B}"/>
              </a:ext>
            </a:extLst>
          </p:cNvPr>
          <p:cNvSpPr txBox="1"/>
          <p:nvPr/>
        </p:nvSpPr>
        <p:spPr>
          <a:xfrm>
            <a:off x="6549710" y="523445"/>
            <a:ext cx="6109252" cy="662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spc="0" dirty="0">
                <a:solidFill>
                  <a:srgbClr val="000000"/>
                </a:solidFill>
                <a:effectLst/>
                <a:latin typeface="+mn-ea"/>
              </a:rPr>
              <a:t>2)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+mn-ea"/>
              </a:rPr>
              <a:t>우승팀 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+mn-ea"/>
              </a:rPr>
              <a:t>- n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+mn-ea"/>
              </a:rPr>
              <a:t>년 야구 팀별 우승 기록 데이터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0B7E8CE0-85EF-4502-4DE3-7504C137CD56}"/>
              </a:ext>
            </a:extLst>
          </p:cNvPr>
          <p:cNvSpPr/>
          <p:nvPr/>
        </p:nvSpPr>
        <p:spPr>
          <a:xfrm>
            <a:off x="327913" y="358640"/>
            <a:ext cx="510287" cy="32961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1225B3D-44C1-B205-5F4E-AFADBD313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56" y="1719554"/>
            <a:ext cx="3568979" cy="389504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47DABBC-24D7-1322-F86B-9041B12D5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307" y="1450203"/>
            <a:ext cx="3568980" cy="455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35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49C5C3-44E6-CB80-14EF-550766DDC02D}"/>
              </a:ext>
            </a:extLst>
          </p:cNvPr>
          <p:cNvSpPr txBox="1"/>
          <p:nvPr/>
        </p:nvSpPr>
        <p:spPr>
          <a:xfrm>
            <a:off x="327913" y="513366"/>
            <a:ext cx="6109252" cy="662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kern="0" spc="0" dirty="0">
                <a:solidFill>
                  <a:srgbClr val="000000"/>
                </a:solidFill>
                <a:effectLst/>
                <a:latin typeface="+mn-ea"/>
              </a:rPr>
              <a:t>3)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+mn-ea"/>
              </a:rPr>
              <a:t>선수 능력치 </a:t>
            </a:r>
            <a:r>
              <a:rPr lang="en-US" altLang="ko-KR" b="1" kern="0" spc="0" dirty="0">
                <a:solidFill>
                  <a:srgbClr val="000000"/>
                </a:solidFill>
                <a:effectLst/>
                <a:latin typeface="+mn-ea"/>
              </a:rPr>
              <a:t>-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+mn-ea"/>
              </a:rPr>
              <a:t>선수 개인 데이터 </a:t>
            </a:r>
            <a:r>
              <a:rPr lang="en-US" altLang="ko-KR" b="1" kern="0" spc="0" dirty="0">
                <a:solidFill>
                  <a:srgbClr val="000000"/>
                </a:solidFill>
                <a:effectLst/>
                <a:latin typeface="+mn-ea"/>
              </a:rPr>
              <a:t>-)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+mn-ea"/>
              </a:rPr>
              <a:t>변수 파악 </a:t>
            </a:r>
            <a:r>
              <a:rPr lang="en-US" altLang="ko-KR" b="1" kern="0" spc="0" dirty="0">
                <a:solidFill>
                  <a:srgbClr val="000000"/>
                </a:solidFill>
                <a:effectLst/>
                <a:latin typeface="+mn-ea"/>
              </a:rPr>
              <a:t>-)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+mn-ea"/>
              </a:rPr>
              <a:t>분석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239CBA0-5FA5-BECD-F0F5-4B2517012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66911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각 키워드 별 데이터 할당 </a:t>
            </a:r>
            <a:r>
              <a:rPr lang="en-US" altLang="ko-KR" sz="3600" b="1" dirty="0"/>
              <a:t>- </a:t>
            </a:r>
            <a:r>
              <a:rPr lang="ko-KR" altLang="en-US" sz="3600" b="1" dirty="0"/>
              <a:t>타격부분</a:t>
            </a: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154C5AFC-B0F1-51DD-B492-C7F771FC5BFF}"/>
              </a:ext>
            </a:extLst>
          </p:cNvPr>
          <p:cNvSpPr/>
          <p:nvPr/>
        </p:nvSpPr>
        <p:spPr>
          <a:xfrm>
            <a:off x="327913" y="418101"/>
            <a:ext cx="510287" cy="26529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9CEE44E-71D2-83DC-0F6C-FD62D38CE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18" y="4360108"/>
            <a:ext cx="3054383" cy="249789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031323A-0557-16B0-4D43-C25F6CE03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912" y="1489459"/>
            <a:ext cx="3054384" cy="240718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9C8112B-0138-7990-EB3D-97EF20DDB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884" y="1452245"/>
            <a:ext cx="3054383" cy="244439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6262060-BCCB-20F1-6FB8-E0A4CBECA4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642" y="1416604"/>
            <a:ext cx="2948045" cy="248003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BF51F45-C918-6C83-FF0B-06CE8D94EB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6883" y="4360108"/>
            <a:ext cx="3054383" cy="249789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4945701-389C-67FC-D696-8CB1BB564CBC}"/>
              </a:ext>
            </a:extLst>
          </p:cNvPr>
          <p:cNvSpPr txBox="1"/>
          <p:nvPr/>
        </p:nvSpPr>
        <p:spPr>
          <a:xfrm>
            <a:off x="7113456" y="1082464"/>
            <a:ext cx="185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wRC</a:t>
            </a:r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D426A1-0309-91C3-CEBB-8F7C34908003}"/>
              </a:ext>
            </a:extLst>
          </p:cNvPr>
          <p:cNvSpPr txBox="1"/>
          <p:nvPr/>
        </p:nvSpPr>
        <p:spPr>
          <a:xfrm>
            <a:off x="3796884" y="1120127"/>
            <a:ext cx="786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WAR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30E65D-E723-D0F1-2862-176E1B35EA10}"/>
              </a:ext>
            </a:extLst>
          </p:cNvPr>
          <p:cNvSpPr txBox="1"/>
          <p:nvPr/>
        </p:nvSpPr>
        <p:spPr>
          <a:xfrm>
            <a:off x="346126" y="1113623"/>
            <a:ext cx="786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타율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9F995D-9D32-8D72-F372-000C3B9D5F9E}"/>
              </a:ext>
            </a:extLst>
          </p:cNvPr>
          <p:cNvSpPr txBox="1"/>
          <p:nvPr/>
        </p:nvSpPr>
        <p:spPr>
          <a:xfrm>
            <a:off x="324718" y="4026025"/>
            <a:ext cx="1297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OPS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FC5184-0D6D-9F6C-8317-19B44DCD16DA}"/>
              </a:ext>
            </a:extLst>
          </p:cNvPr>
          <p:cNvSpPr txBox="1"/>
          <p:nvPr/>
        </p:nvSpPr>
        <p:spPr>
          <a:xfrm>
            <a:off x="3796883" y="3990776"/>
            <a:ext cx="1297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득점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92ACF408-B8A5-3BBF-F602-AC3C58C876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9001" y="4360107"/>
            <a:ext cx="2966686" cy="251232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847BA96-D9A2-4F1B-93BD-877C5DFE370E}"/>
              </a:ext>
            </a:extLst>
          </p:cNvPr>
          <p:cNvSpPr txBox="1"/>
          <p:nvPr/>
        </p:nvSpPr>
        <p:spPr>
          <a:xfrm>
            <a:off x="7219524" y="3975222"/>
            <a:ext cx="1297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도루</a:t>
            </a:r>
          </a:p>
        </p:txBody>
      </p:sp>
    </p:spTree>
    <p:extLst>
      <p:ext uri="{BB962C8B-B14F-4D97-AF65-F5344CB8AC3E}">
        <p14:creationId xmlns:p14="http://schemas.microsoft.com/office/powerpoint/2010/main" val="2105041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49C5C3-44E6-CB80-14EF-550766DDC02D}"/>
              </a:ext>
            </a:extLst>
          </p:cNvPr>
          <p:cNvSpPr txBox="1"/>
          <p:nvPr/>
        </p:nvSpPr>
        <p:spPr>
          <a:xfrm>
            <a:off x="327913" y="513366"/>
            <a:ext cx="6109252" cy="662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kern="0" spc="0" dirty="0">
                <a:solidFill>
                  <a:srgbClr val="000000"/>
                </a:solidFill>
                <a:effectLst/>
                <a:latin typeface="+mn-ea"/>
              </a:rPr>
              <a:t>3)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+mn-ea"/>
              </a:rPr>
              <a:t>선수 능력치 </a:t>
            </a:r>
            <a:r>
              <a:rPr lang="en-US" altLang="ko-KR" b="1" kern="0" spc="0" dirty="0">
                <a:solidFill>
                  <a:srgbClr val="000000"/>
                </a:solidFill>
                <a:effectLst/>
                <a:latin typeface="+mn-ea"/>
              </a:rPr>
              <a:t>-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+mn-ea"/>
              </a:rPr>
              <a:t>선수 개인 데이터 </a:t>
            </a:r>
            <a:r>
              <a:rPr lang="en-US" altLang="ko-KR" b="1" kern="0" spc="0" dirty="0">
                <a:solidFill>
                  <a:srgbClr val="000000"/>
                </a:solidFill>
                <a:effectLst/>
                <a:latin typeface="+mn-ea"/>
              </a:rPr>
              <a:t>-)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+mn-ea"/>
              </a:rPr>
              <a:t>변수 파악 </a:t>
            </a:r>
            <a:r>
              <a:rPr lang="en-US" altLang="ko-KR" b="1" kern="0" spc="0" dirty="0">
                <a:solidFill>
                  <a:srgbClr val="000000"/>
                </a:solidFill>
                <a:effectLst/>
                <a:latin typeface="+mn-ea"/>
              </a:rPr>
              <a:t>-)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+mn-ea"/>
              </a:rPr>
              <a:t>분석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239CBA0-5FA5-BECD-F0F5-4B2517012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66911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각 키워드 별 데이터 할당 </a:t>
            </a:r>
            <a:r>
              <a:rPr lang="en-US" altLang="ko-KR" sz="3600" b="1" dirty="0"/>
              <a:t>- </a:t>
            </a:r>
            <a:r>
              <a:rPr lang="ko-KR" altLang="en-US" sz="3600" b="1" dirty="0"/>
              <a:t>수비부분</a:t>
            </a: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154C5AFC-B0F1-51DD-B492-C7F771FC5BFF}"/>
              </a:ext>
            </a:extLst>
          </p:cNvPr>
          <p:cNvSpPr/>
          <p:nvPr/>
        </p:nvSpPr>
        <p:spPr>
          <a:xfrm>
            <a:off x="327913" y="418101"/>
            <a:ext cx="510287" cy="26529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8395EF5-8B05-2C51-2038-C3F3158F9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13" y="1485012"/>
            <a:ext cx="2217612" cy="327688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D0E8D4C-A13B-1855-C8DF-978B90AE4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636" y="1469771"/>
            <a:ext cx="2217612" cy="329212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4C4AD2D-6B43-C25D-3BF0-C62841D3A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359" y="1446909"/>
            <a:ext cx="2212395" cy="329212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D20DBD9-47F0-F7B4-51BC-1572717053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865" y="1446909"/>
            <a:ext cx="2212395" cy="329212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B8462BC-6FA9-76B5-C50B-6088E8AFED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2371" y="1446909"/>
            <a:ext cx="2212395" cy="32921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31EC2E4-50D7-4365-4425-CA0EC99F6946}"/>
              </a:ext>
            </a:extLst>
          </p:cNvPr>
          <p:cNvSpPr txBox="1"/>
          <p:nvPr/>
        </p:nvSpPr>
        <p:spPr>
          <a:xfrm>
            <a:off x="542611" y="4973934"/>
            <a:ext cx="1788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실책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650674-8858-18BD-B3AF-64EB2EB93D46}"/>
              </a:ext>
            </a:extLst>
          </p:cNvPr>
          <p:cNvSpPr txBox="1"/>
          <p:nvPr/>
        </p:nvSpPr>
        <p:spPr>
          <a:xfrm>
            <a:off x="2785068" y="4941668"/>
            <a:ext cx="1788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수비율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C5F90F-D74F-29EE-1E99-FFE664A747A9}"/>
              </a:ext>
            </a:extLst>
          </p:cNvPr>
          <p:cNvSpPr txBox="1"/>
          <p:nvPr/>
        </p:nvSpPr>
        <p:spPr>
          <a:xfrm>
            <a:off x="5186408" y="4939836"/>
            <a:ext cx="1788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RNG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03BAE9-A64A-06E8-81E5-A0D06D1F9824}"/>
              </a:ext>
            </a:extLst>
          </p:cNvPr>
          <p:cNvSpPr txBox="1"/>
          <p:nvPr/>
        </p:nvSpPr>
        <p:spPr>
          <a:xfrm>
            <a:off x="7587748" y="4934366"/>
            <a:ext cx="1788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ARM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37758E-FE6F-63C7-65C6-6971033C508D}"/>
              </a:ext>
            </a:extLst>
          </p:cNvPr>
          <p:cNvSpPr txBox="1"/>
          <p:nvPr/>
        </p:nvSpPr>
        <p:spPr>
          <a:xfrm>
            <a:off x="9989088" y="4945306"/>
            <a:ext cx="1788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E+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7428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49C5C3-44E6-CB80-14EF-550766DDC02D}"/>
              </a:ext>
            </a:extLst>
          </p:cNvPr>
          <p:cNvSpPr txBox="1"/>
          <p:nvPr/>
        </p:nvSpPr>
        <p:spPr>
          <a:xfrm>
            <a:off x="327913" y="513366"/>
            <a:ext cx="6109252" cy="662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kern="0" spc="0" dirty="0">
                <a:solidFill>
                  <a:srgbClr val="000000"/>
                </a:solidFill>
                <a:effectLst/>
                <a:latin typeface="+mn-ea"/>
              </a:rPr>
              <a:t>3)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+mn-ea"/>
              </a:rPr>
              <a:t>선수 능력치 </a:t>
            </a:r>
            <a:r>
              <a:rPr lang="en-US" altLang="ko-KR" b="1" kern="0" spc="0" dirty="0">
                <a:solidFill>
                  <a:srgbClr val="000000"/>
                </a:solidFill>
                <a:effectLst/>
                <a:latin typeface="+mn-ea"/>
              </a:rPr>
              <a:t>-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+mn-ea"/>
              </a:rPr>
              <a:t>선수 개인 데이터 </a:t>
            </a:r>
            <a:r>
              <a:rPr lang="en-US" altLang="ko-KR" b="1" kern="0" spc="0" dirty="0">
                <a:solidFill>
                  <a:srgbClr val="000000"/>
                </a:solidFill>
                <a:effectLst/>
                <a:latin typeface="+mn-ea"/>
              </a:rPr>
              <a:t>-)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+mn-ea"/>
              </a:rPr>
              <a:t>변수 파악 </a:t>
            </a:r>
            <a:r>
              <a:rPr lang="en-US" altLang="ko-KR" b="1" kern="0" spc="0" dirty="0">
                <a:solidFill>
                  <a:srgbClr val="000000"/>
                </a:solidFill>
                <a:effectLst/>
                <a:latin typeface="+mn-ea"/>
              </a:rPr>
              <a:t>-)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+mn-ea"/>
              </a:rPr>
              <a:t>분석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239CBA0-5FA5-BECD-F0F5-4B2517012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66911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각 키워드 별 데이터 할당 </a:t>
            </a:r>
            <a:r>
              <a:rPr lang="en-US" altLang="ko-KR" sz="3600" b="1" dirty="0"/>
              <a:t>- </a:t>
            </a:r>
            <a:r>
              <a:rPr lang="ko-KR" altLang="en-US" sz="3600" b="1" dirty="0"/>
              <a:t>투수부분</a:t>
            </a: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154C5AFC-B0F1-51DD-B492-C7F771FC5BFF}"/>
              </a:ext>
            </a:extLst>
          </p:cNvPr>
          <p:cNvSpPr/>
          <p:nvPr/>
        </p:nvSpPr>
        <p:spPr>
          <a:xfrm>
            <a:off x="327913" y="418101"/>
            <a:ext cx="510287" cy="26529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1A1C3E5-EA21-532F-2764-D97476F55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51" y="1548322"/>
            <a:ext cx="2270958" cy="297205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967BB80-1AE8-FDBF-091C-2D5C546F4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9721" y="1483107"/>
            <a:ext cx="2270957" cy="30177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3394604-FCD6-5010-B7F4-C073AF6BD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6036" y="1483107"/>
            <a:ext cx="2270957" cy="297205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972EC13-72F6-9E6C-66AA-287779C464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7245" y="1483107"/>
            <a:ext cx="2270957" cy="297015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53A6679-E5EF-83FA-4821-4EC50F875321}"/>
              </a:ext>
            </a:extLst>
          </p:cNvPr>
          <p:cNvSpPr txBox="1"/>
          <p:nvPr/>
        </p:nvSpPr>
        <p:spPr>
          <a:xfrm>
            <a:off x="838200" y="4724358"/>
            <a:ext cx="1788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승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08E6FC-0508-DD65-FC93-80A72EE9435D}"/>
              </a:ext>
            </a:extLst>
          </p:cNvPr>
          <p:cNvSpPr txBox="1"/>
          <p:nvPr/>
        </p:nvSpPr>
        <p:spPr>
          <a:xfrm>
            <a:off x="3540895" y="4694964"/>
            <a:ext cx="1788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패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950C6E-D3EC-D062-01BB-E85CB44B6314}"/>
              </a:ext>
            </a:extLst>
          </p:cNvPr>
          <p:cNvSpPr txBox="1"/>
          <p:nvPr/>
        </p:nvSpPr>
        <p:spPr>
          <a:xfrm>
            <a:off x="6267210" y="4686694"/>
            <a:ext cx="1788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ERA+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D8D1AA-989F-749A-F371-F38BE796FF95}"/>
              </a:ext>
            </a:extLst>
          </p:cNvPr>
          <p:cNvSpPr txBox="1"/>
          <p:nvPr/>
        </p:nvSpPr>
        <p:spPr>
          <a:xfrm>
            <a:off x="9128419" y="4684790"/>
            <a:ext cx="1788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WPA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9640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49C5C3-44E6-CB80-14EF-550766DDC02D}"/>
              </a:ext>
            </a:extLst>
          </p:cNvPr>
          <p:cNvSpPr txBox="1"/>
          <p:nvPr/>
        </p:nvSpPr>
        <p:spPr>
          <a:xfrm>
            <a:off x="327913" y="513366"/>
            <a:ext cx="6109252" cy="662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kern="0" spc="0" dirty="0">
                <a:solidFill>
                  <a:srgbClr val="000000"/>
                </a:solidFill>
                <a:effectLst/>
                <a:latin typeface="+mn-ea"/>
              </a:rPr>
              <a:t>5)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+mn-ea"/>
              </a:rPr>
              <a:t>선수 유명세 데이터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239CBA0-5FA5-BECD-F0F5-4B2517012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66911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각 키워드 별 데이터 할당</a:t>
            </a: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154C5AFC-B0F1-51DD-B492-C7F771FC5BFF}"/>
              </a:ext>
            </a:extLst>
          </p:cNvPr>
          <p:cNvSpPr/>
          <p:nvPr/>
        </p:nvSpPr>
        <p:spPr>
          <a:xfrm>
            <a:off x="327913" y="418101"/>
            <a:ext cx="510287" cy="26529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09924A-D85F-D078-4C21-3774DEB97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56" y="1270672"/>
            <a:ext cx="2973142" cy="50769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FBF68C-AA04-4617-1502-FD8EEBB213C3}"/>
              </a:ext>
            </a:extLst>
          </p:cNvPr>
          <p:cNvSpPr txBox="1"/>
          <p:nvPr/>
        </p:nvSpPr>
        <p:spPr>
          <a:xfrm>
            <a:off x="4099727" y="1577591"/>
            <a:ext cx="725407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2022 – 2023</a:t>
            </a:r>
            <a:r>
              <a:rPr lang="ko-KR" altLang="en-US" b="1" dirty="0"/>
              <a:t>년도 데이터 중에서 국내 활동중인 선수</a:t>
            </a:r>
            <a:endParaRPr lang="en-US" altLang="ko-KR" b="1" dirty="0"/>
          </a:p>
          <a:p>
            <a:endParaRPr lang="en-US" altLang="ko-KR" dirty="0"/>
          </a:p>
          <a:p>
            <a:r>
              <a:rPr lang="ko-KR" altLang="en-US" b="1" dirty="0"/>
              <a:t>추신수 </a:t>
            </a:r>
            <a:r>
              <a:rPr lang="en-US" altLang="ko-KR" b="1" dirty="0"/>
              <a:t>- SSG</a:t>
            </a:r>
          </a:p>
          <a:p>
            <a:r>
              <a:rPr lang="ko-KR" altLang="en-US" b="1" dirty="0" err="1"/>
              <a:t>이정후</a:t>
            </a:r>
            <a:r>
              <a:rPr lang="ko-KR" altLang="en-US" b="1" dirty="0"/>
              <a:t> </a:t>
            </a:r>
            <a:r>
              <a:rPr lang="en-US" altLang="ko-KR" b="1" dirty="0"/>
              <a:t>– </a:t>
            </a:r>
            <a:r>
              <a:rPr lang="ko-KR" altLang="en-US" b="1" dirty="0"/>
              <a:t>키움</a:t>
            </a:r>
            <a:endParaRPr lang="en-US" altLang="ko-KR" b="1" dirty="0"/>
          </a:p>
          <a:p>
            <a:r>
              <a:rPr lang="ko-KR" altLang="en-US" b="1" dirty="0"/>
              <a:t>김광현 </a:t>
            </a:r>
            <a:r>
              <a:rPr lang="en-US" altLang="ko-KR" b="1" dirty="0"/>
              <a:t>– SSG</a:t>
            </a:r>
          </a:p>
          <a:p>
            <a:r>
              <a:rPr lang="ko-KR" altLang="en-US" b="1" dirty="0"/>
              <a:t>이대호 </a:t>
            </a:r>
            <a:r>
              <a:rPr lang="en-US" altLang="ko-KR" b="1" dirty="0"/>
              <a:t>– </a:t>
            </a:r>
            <a:r>
              <a:rPr lang="ko-KR" altLang="en-US" b="1" dirty="0"/>
              <a:t>롯데</a:t>
            </a:r>
            <a:endParaRPr lang="en-US" altLang="ko-KR" b="1" dirty="0"/>
          </a:p>
          <a:p>
            <a:r>
              <a:rPr lang="ko-KR" altLang="en-US" b="1" dirty="0"/>
              <a:t>양현종 </a:t>
            </a:r>
            <a:r>
              <a:rPr lang="en-US" altLang="ko-KR" b="1" dirty="0"/>
              <a:t>– </a:t>
            </a:r>
            <a:r>
              <a:rPr lang="ko-KR" altLang="en-US" b="1" dirty="0"/>
              <a:t>기아</a:t>
            </a:r>
            <a:endParaRPr lang="en-US" altLang="ko-KR" b="1" dirty="0"/>
          </a:p>
          <a:p>
            <a:r>
              <a:rPr lang="ko-KR" altLang="en-US" b="1" dirty="0" err="1"/>
              <a:t>구자욱</a:t>
            </a:r>
            <a:r>
              <a:rPr lang="ko-KR" altLang="en-US" b="1" dirty="0"/>
              <a:t> </a:t>
            </a:r>
            <a:r>
              <a:rPr lang="en-US" altLang="ko-KR" b="1" dirty="0"/>
              <a:t>– </a:t>
            </a:r>
            <a:r>
              <a:rPr lang="ko-KR" altLang="en-US" b="1" dirty="0"/>
              <a:t>삼성</a:t>
            </a:r>
            <a:endParaRPr lang="en-US" altLang="ko-KR" b="1" dirty="0"/>
          </a:p>
          <a:p>
            <a:r>
              <a:rPr lang="ko-KR" altLang="en-US" b="1" dirty="0"/>
              <a:t>나성범 </a:t>
            </a:r>
            <a:r>
              <a:rPr lang="en-US" altLang="ko-KR" b="1" dirty="0"/>
              <a:t>– </a:t>
            </a:r>
            <a:r>
              <a:rPr lang="ko-KR" altLang="en-US" b="1" dirty="0"/>
              <a:t>기아</a:t>
            </a:r>
            <a:endParaRPr lang="en-US" altLang="ko-KR" b="1" dirty="0"/>
          </a:p>
          <a:p>
            <a:r>
              <a:rPr lang="ko-KR" altLang="en-US" b="1" dirty="0" err="1"/>
              <a:t>양의지</a:t>
            </a:r>
            <a:r>
              <a:rPr lang="ko-KR" altLang="en-US" b="1" dirty="0"/>
              <a:t> </a:t>
            </a:r>
            <a:r>
              <a:rPr lang="en-US" altLang="ko-KR" b="1" dirty="0"/>
              <a:t>– NC</a:t>
            </a:r>
          </a:p>
          <a:p>
            <a:r>
              <a:rPr lang="ko-KR" altLang="en-US" b="1" dirty="0"/>
              <a:t>강백호 </a:t>
            </a:r>
            <a:r>
              <a:rPr lang="en-US" altLang="ko-KR" b="1" dirty="0"/>
              <a:t>– KT</a:t>
            </a:r>
          </a:p>
          <a:p>
            <a:r>
              <a:rPr lang="ko-KR" altLang="en-US" b="1" dirty="0"/>
              <a:t>김현수 </a:t>
            </a:r>
            <a:r>
              <a:rPr lang="en-US" altLang="ko-KR" b="1" dirty="0"/>
              <a:t>– LG</a:t>
            </a:r>
          </a:p>
          <a:p>
            <a:r>
              <a:rPr lang="ko-KR" altLang="en-US" b="1" dirty="0"/>
              <a:t>최정 </a:t>
            </a:r>
            <a:r>
              <a:rPr lang="en-US" altLang="ko-KR" b="1" dirty="0"/>
              <a:t>- SSG</a:t>
            </a:r>
          </a:p>
        </p:txBody>
      </p:sp>
    </p:spTree>
    <p:extLst>
      <p:ext uri="{BB962C8B-B14F-4D97-AF65-F5344CB8AC3E}">
        <p14:creationId xmlns:p14="http://schemas.microsoft.com/office/powerpoint/2010/main" val="3570540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A1E8B5E-D3C5-75DA-5F53-0171C05E5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데이터 </a:t>
            </a:r>
            <a:r>
              <a:rPr lang="en-US" altLang="ko-KR" sz="3600" b="1" dirty="0"/>
              <a:t>&amp; </a:t>
            </a:r>
            <a:r>
              <a:rPr lang="ko-KR" altLang="en-US" sz="3600" b="1" dirty="0"/>
              <a:t>키워드 통해 최종 추천 팀 도출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8BE8B-86AF-B64F-6665-6B7C456503B1}"/>
              </a:ext>
            </a:extLst>
          </p:cNvPr>
          <p:cNvSpPr txBox="1"/>
          <p:nvPr/>
        </p:nvSpPr>
        <p:spPr>
          <a:xfrm>
            <a:off x="380113" y="1851006"/>
            <a:ext cx="607384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최종 추천 팀 도출 선택지 점수 부여 기준</a:t>
            </a:r>
          </a:p>
          <a:p>
            <a:endParaRPr lang="ko-KR" altLang="en-US" dirty="0"/>
          </a:p>
          <a:p>
            <a:r>
              <a:rPr lang="ko-KR" altLang="en-US" b="1" dirty="0"/>
              <a:t>1) 지역 (연고지) </a:t>
            </a:r>
            <a:r>
              <a:rPr lang="ko-KR" altLang="en-US" dirty="0"/>
              <a:t>- 팀 별 연고지 데이터</a:t>
            </a:r>
          </a:p>
          <a:p>
            <a:r>
              <a:rPr lang="ko-KR" altLang="en-US" dirty="0"/>
              <a:t>선택하는 지역 해당 팀 각 5점씩</a:t>
            </a:r>
          </a:p>
          <a:p>
            <a:r>
              <a:rPr lang="ko-KR" altLang="en-US" dirty="0"/>
              <a:t>서울 - LG 두산 키움 각 5점 추가</a:t>
            </a:r>
          </a:p>
          <a:p>
            <a:endParaRPr lang="ko-KR" altLang="en-US" dirty="0"/>
          </a:p>
          <a:p>
            <a:r>
              <a:rPr lang="ko-KR" altLang="en-US" b="1" dirty="0"/>
              <a:t>2) 선수 능력치 </a:t>
            </a:r>
            <a:r>
              <a:rPr lang="ko-KR" altLang="en-US" dirty="0"/>
              <a:t>-  선수 개인 데이터 -) 변수 파악 -) 분석</a:t>
            </a:r>
          </a:p>
          <a:p>
            <a:r>
              <a:rPr lang="ko-KR" altLang="en-US" dirty="0"/>
              <a:t>변수 가중치 계산 후 Top5 선수 팀에 5점 추가</a:t>
            </a:r>
          </a:p>
          <a:p>
            <a:endParaRPr lang="ko-KR" altLang="en-US" dirty="0"/>
          </a:p>
          <a:p>
            <a:r>
              <a:rPr lang="ko-KR" altLang="en-US" b="1" dirty="0"/>
              <a:t>3) 선수 유명세 </a:t>
            </a:r>
            <a:r>
              <a:rPr lang="ko-KR" altLang="en-US" dirty="0"/>
              <a:t>- 선수 인기순위 데이터</a:t>
            </a:r>
          </a:p>
          <a:p>
            <a:r>
              <a:rPr lang="ko-KR" altLang="en-US" dirty="0"/>
              <a:t>인기순위 (Top3~Top5) 선수 팀에 5점 추가</a:t>
            </a:r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E16F80-8A6C-61EE-8D47-05E8A767B54A}"/>
              </a:ext>
            </a:extLst>
          </p:cNvPr>
          <p:cNvSpPr txBox="1"/>
          <p:nvPr/>
        </p:nvSpPr>
        <p:spPr>
          <a:xfrm>
            <a:off x="6347637" y="2138909"/>
            <a:ext cx="607384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  <a:p>
            <a:r>
              <a:rPr lang="ko-KR" altLang="en-US" b="1" dirty="0"/>
              <a:t>4) 팀 인기순위 </a:t>
            </a:r>
            <a:r>
              <a:rPr lang="ko-KR" altLang="en-US" dirty="0"/>
              <a:t>- 팀 인기순위 데이터</a:t>
            </a:r>
          </a:p>
          <a:p>
            <a:r>
              <a:rPr lang="ko-KR" altLang="en-US" dirty="0"/>
              <a:t>인기순위 (Top3-Top5) 선수 팀에 5점 추가</a:t>
            </a:r>
          </a:p>
          <a:p>
            <a:endParaRPr lang="ko-KR" altLang="en-US" dirty="0"/>
          </a:p>
          <a:p>
            <a:r>
              <a:rPr lang="ko-KR" altLang="en-US" b="1" dirty="0"/>
              <a:t>5) 팀 성향 </a:t>
            </a:r>
            <a:r>
              <a:rPr lang="ko-KR" altLang="en-US" dirty="0"/>
              <a:t>- 팀 별 기록 데이터 -) 변수파악 -) 분석</a:t>
            </a:r>
          </a:p>
          <a:p>
            <a:r>
              <a:rPr lang="ko-KR" altLang="en-US" dirty="0"/>
              <a:t>공격형 / 수비형 사용자 선택하면 해당 팀에 5점 추가</a:t>
            </a:r>
          </a:p>
          <a:p>
            <a:endParaRPr lang="ko-KR" altLang="en-US" dirty="0"/>
          </a:p>
          <a:p>
            <a:r>
              <a:rPr lang="ko-KR" altLang="en-US" dirty="0"/>
              <a:t>공격 - 키움 LG SSG NC KIA 삼성</a:t>
            </a:r>
          </a:p>
          <a:p>
            <a:endParaRPr lang="ko-KR" altLang="en-US" dirty="0"/>
          </a:p>
          <a:p>
            <a:r>
              <a:rPr lang="ko-KR" altLang="en-US" dirty="0"/>
              <a:t>수비 - 두산 LG SSG 한화 KT 롯데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D5A7BE-F07C-76CA-48E7-023460D3ACD3}"/>
              </a:ext>
            </a:extLst>
          </p:cNvPr>
          <p:cNvSpPr txBox="1"/>
          <p:nvPr/>
        </p:nvSpPr>
        <p:spPr>
          <a:xfrm>
            <a:off x="380113" y="5427644"/>
            <a:ext cx="8609064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b="1" kern="0" dirty="0">
                <a:solidFill>
                  <a:srgbClr val="000000"/>
                </a:solidFill>
                <a:latin typeface="+mn-ea"/>
              </a:rPr>
              <a:t>총 점수 높은 팀 </a:t>
            </a:r>
            <a:r>
              <a:rPr lang="en-US" altLang="ko-KR" b="1" kern="0" dirty="0">
                <a:solidFill>
                  <a:srgbClr val="000000"/>
                </a:solidFill>
                <a:latin typeface="+mn-ea"/>
              </a:rPr>
              <a:t>Top 3 </a:t>
            </a:r>
            <a:r>
              <a:rPr lang="ko-KR" altLang="en-US" b="1" kern="0" dirty="0">
                <a:solidFill>
                  <a:srgbClr val="000000"/>
                </a:solidFill>
                <a:latin typeface="+mn-ea"/>
              </a:rPr>
              <a:t>추천</a:t>
            </a:r>
            <a:endParaRPr lang="ko-KR" altLang="en-US" sz="1800" b="1" kern="0" spc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B2AB7119-CB54-13B2-3E93-00E7E5BCFBFB}"/>
              </a:ext>
            </a:extLst>
          </p:cNvPr>
          <p:cNvSpPr/>
          <p:nvPr/>
        </p:nvSpPr>
        <p:spPr>
          <a:xfrm>
            <a:off x="327913" y="863101"/>
            <a:ext cx="510287" cy="32961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135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A7EF208-EE11-4EB3-360C-CB9CB9A26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b="1" dirty="0"/>
              <a:t>1-3.</a:t>
            </a:r>
            <a:r>
              <a:rPr lang="ko-KR" altLang="en-US" sz="4000" b="1" dirty="0"/>
              <a:t> 키워드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700689-F972-43B1-6181-77240D58603C}"/>
              </a:ext>
            </a:extLst>
          </p:cNvPr>
          <p:cNvSpPr txBox="1"/>
          <p:nvPr/>
        </p:nvSpPr>
        <p:spPr>
          <a:xfrm>
            <a:off x="945778" y="1690688"/>
            <a:ext cx="10780295" cy="4124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just" fontAlgn="base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AutoNum type="arabicParenR"/>
            </a:pP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+mn-ea"/>
              </a:rPr>
              <a:t>지역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연고지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)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+mn-ea"/>
              </a:rPr>
              <a:t>2)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+mn-ea"/>
              </a:rPr>
              <a:t>우승팀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사용자 설정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n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년간 우승 빈도수 높은 팀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)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+mn-ea"/>
              </a:rPr>
              <a:t>3)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+mn-ea"/>
              </a:rPr>
              <a:t>선수 능력치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팀과 관계없이 선수만 보고 따졌을 때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, </a:t>
            </a:r>
          </a:p>
          <a:p>
            <a:pPr marL="0" marR="0" indent="0" algn="just" fontAlgn="base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타자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/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투수 점수 제일 많이 내는 순서로 능력치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)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+mn-ea"/>
              </a:rPr>
              <a:t>4) 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+mn-ea"/>
              </a:rPr>
              <a:t>선수 유명세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선수 인지도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)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kern="0" dirty="0">
                <a:solidFill>
                  <a:srgbClr val="000000"/>
                </a:solidFill>
                <a:latin typeface="+mn-ea"/>
              </a:rPr>
              <a:t>5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+mn-ea"/>
              </a:rPr>
              <a:t>) 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+mn-ea"/>
              </a:rPr>
              <a:t>경기 성향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(ex.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공격형 수비형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/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지금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+mn-ea"/>
              </a:rPr>
              <a:t>전처리하고있는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+mn-ea"/>
              </a:rPr>
              <a:t>분석값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)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28900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558D10-AF10-827D-A04C-353216897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017" y="2766218"/>
            <a:ext cx="11057965" cy="1325563"/>
          </a:xfrm>
        </p:spPr>
        <p:txBody>
          <a:bodyPr>
            <a:noAutofit/>
          </a:bodyPr>
          <a:lstStyle/>
          <a:p>
            <a:pPr algn="ctr"/>
            <a:r>
              <a:rPr lang="en-US" altLang="ko-KR" sz="5400" b="1" dirty="0"/>
              <a:t>2. </a:t>
            </a:r>
            <a:r>
              <a:rPr lang="ko-KR" altLang="en-US" sz="5400" b="1" dirty="0"/>
              <a:t>활용 데이터 및 데이터 처리방안</a:t>
            </a:r>
          </a:p>
        </p:txBody>
      </p:sp>
    </p:spTree>
    <p:extLst>
      <p:ext uri="{BB962C8B-B14F-4D97-AF65-F5344CB8AC3E}">
        <p14:creationId xmlns:p14="http://schemas.microsoft.com/office/powerpoint/2010/main" val="2138270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1AE1FE-EC63-46CD-BC23-B81A06109820}"/>
              </a:ext>
            </a:extLst>
          </p:cNvPr>
          <p:cNvSpPr txBox="1"/>
          <p:nvPr/>
        </p:nvSpPr>
        <p:spPr>
          <a:xfrm>
            <a:off x="900955" y="1975889"/>
            <a:ext cx="6109252" cy="3432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spc="0" dirty="0">
                <a:solidFill>
                  <a:srgbClr val="000000"/>
                </a:solidFill>
                <a:effectLst/>
                <a:latin typeface="+mn-ea"/>
              </a:rPr>
              <a:t>1)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+mn-ea"/>
              </a:rPr>
              <a:t>지역 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+mn-ea"/>
              </a:rPr>
              <a:t>연고지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+mn-ea"/>
              </a:rPr>
              <a:t>) -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+mn-ea"/>
              </a:rPr>
              <a:t>팀 별 연고지 데이터</a:t>
            </a:r>
          </a:p>
          <a:p>
            <a:pPr marL="0" marR="0" indent="0" algn="just" fontAlgn="base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spc="0" dirty="0">
                <a:solidFill>
                  <a:srgbClr val="000000"/>
                </a:solidFill>
                <a:effectLst/>
                <a:latin typeface="+mn-ea"/>
              </a:rPr>
              <a:t>2)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+mn-ea"/>
              </a:rPr>
              <a:t>우승팀 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+mn-ea"/>
              </a:rPr>
              <a:t>- n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+mn-ea"/>
              </a:rPr>
              <a:t>년 야구 우승 기록 데이터</a:t>
            </a:r>
          </a:p>
          <a:p>
            <a:pPr marL="0" marR="0" indent="0" algn="just" fontAlgn="base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kern="0" spc="0" dirty="0">
                <a:solidFill>
                  <a:srgbClr val="000000"/>
                </a:solidFill>
                <a:effectLst/>
                <a:latin typeface="+mn-ea"/>
              </a:rPr>
              <a:t>3)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+mn-ea"/>
              </a:rPr>
              <a:t>선수 능력치 </a:t>
            </a:r>
            <a:r>
              <a:rPr lang="en-US" altLang="ko-KR" b="1" kern="0" spc="0" dirty="0">
                <a:solidFill>
                  <a:srgbClr val="000000"/>
                </a:solidFill>
                <a:effectLst/>
                <a:latin typeface="+mn-ea"/>
              </a:rPr>
              <a:t>-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+mn-ea"/>
              </a:rPr>
              <a:t>선수 개인 데이터 </a:t>
            </a:r>
            <a:r>
              <a:rPr lang="en-US" altLang="ko-KR" b="1" kern="0" spc="0" dirty="0">
                <a:solidFill>
                  <a:srgbClr val="000000"/>
                </a:solidFill>
                <a:effectLst/>
                <a:latin typeface="+mn-ea"/>
              </a:rPr>
              <a:t>-)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+mn-ea"/>
              </a:rPr>
              <a:t>변수 파악 </a:t>
            </a:r>
            <a:r>
              <a:rPr lang="en-US" altLang="ko-KR" b="1" kern="0" spc="0" dirty="0">
                <a:solidFill>
                  <a:srgbClr val="000000"/>
                </a:solidFill>
                <a:effectLst/>
                <a:latin typeface="+mn-ea"/>
              </a:rPr>
              <a:t>-)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+mn-ea"/>
              </a:rPr>
              <a:t>분석</a:t>
            </a:r>
          </a:p>
          <a:p>
            <a:pPr marL="0" marR="0" indent="0" algn="just" fontAlgn="base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spc="0" dirty="0">
                <a:solidFill>
                  <a:srgbClr val="000000"/>
                </a:solidFill>
                <a:effectLst/>
                <a:latin typeface="+mn-ea"/>
              </a:rPr>
              <a:t>4)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+mn-ea"/>
              </a:rPr>
              <a:t>선수 유명세 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+mn-ea"/>
              </a:rPr>
              <a:t>-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+mn-ea"/>
              </a:rPr>
              <a:t>선수 인기순위 데이터</a:t>
            </a:r>
          </a:p>
          <a:p>
            <a:pPr marL="0" marR="0" indent="0" algn="just" fontAlgn="base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kern="0" dirty="0">
                <a:solidFill>
                  <a:srgbClr val="000000"/>
                </a:solidFill>
                <a:latin typeface="+mn-ea"/>
              </a:rPr>
              <a:t>5</a:t>
            </a:r>
            <a:r>
              <a:rPr lang="en-US" altLang="ko-KR" b="1" kern="0" spc="0" dirty="0">
                <a:solidFill>
                  <a:srgbClr val="000000"/>
                </a:solidFill>
                <a:effectLst/>
                <a:latin typeface="+mn-ea"/>
              </a:rPr>
              <a:t>)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+mn-ea"/>
              </a:rPr>
              <a:t>팀 성향 </a:t>
            </a:r>
            <a:r>
              <a:rPr lang="en-US" altLang="ko-KR" b="1" kern="0" spc="0" dirty="0">
                <a:solidFill>
                  <a:srgbClr val="000000"/>
                </a:solidFill>
                <a:effectLst/>
                <a:latin typeface="+mn-ea"/>
              </a:rPr>
              <a:t>-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+mn-ea"/>
              </a:rPr>
              <a:t>팀 별 기록 데이터 </a:t>
            </a:r>
            <a:r>
              <a:rPr lang="en-US" altLang="ko-KR" b="1" kern="0" spc="0" dirty="0">
                <a:solidFill>
                  <a:srgbClr val="000000"/>
                </a:solidFill>
                <a:effectLst/>
                <a:latin typeface="+mn-ea"/>
              </a:rPr>
              <a:t>-)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+mn-ea"/>
              </a:rPr>
              <a:t>변수파악 </a:t>
            </a:r>
            <a:r>
              <a:rPr lang="en-US" altLang="ko-KR" b="1" kern="0" spc="0" dirty="0">
                <a:solidFill>
                  <a:srgbClr val="000000"/>
                </a:solidFill>
                <a:effectLst/>
                <a:latin typeface="+mn-ea"/>
              </a:rPr>
              <a:t>-)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+mn-ea"/>
              </a:rPr>
              <a:t>분석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1DC1B91-E048-B7B2-B8CA-B4DF320408F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/>
              <a:t>2-1.</a:t>
            </a:r>
            <a:r>
              <a:rPr lang="ko-KR" altLang="en-US" sz="4000" b="1" dirty="0"/>
              <a:t> 키워드 별 활용데이터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16CD37-3F40-8751-6459-6BFFE9D350A6}"/>
              </a:ext>
            </a:extLst>
          </p:cNvPr>
          <p:cNvSpPr txBox="1"/>
          <p:nvPr/>
        </p:nvSpPr>
        <p:spPr>
          <a:xfrm>
            <a:off x="6350322" y="3278270"/>
            <a:ext cx="6419235" cy="916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kern="0" dirty="0">
                <a:solidFill>
                  <a:srgbClr val="000000"/>
                </a:solidFill>
                <a:latin typeface="+mj-ea"/>
                <a:ea typeface="+mj-ea"/>
              </a:rPr>
              <a:t>-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&gt;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이 중 </a:t>
            </a:r>
            <a:r>
              <a:rPr lang="ko-KR" altLang="en-US" sz="1800" b="1" kern="0" spc="0" dirty="0">
                <a:solidFill>
                  <a:schemeClr val="accent2"/>
                </a:solidFill>
                <a:effectLst/>
                <a:latin typeface="+mj-ea"/>
                <a:ea typeface="+mj-ea"/>
              </a:rPr>
              <a:t>직접 분석</a:t>
            </a:r>
            <a:r>
              <a:rPr lang="ko-KR" altLang="en-US" sz="1800" b="1" kern="0" spc="0" dirty="0">
                <a:effectLst/>
                <a:latin typeface="+mj-ea"/>
                <a:ea typeface="+mj-ea"/>
              </a:rPr>
              <a:t>이</a:t>
            </a:r>
            <a:r>
              <a:rPr lang="ko-KR" altLang="en-US" sz="1800" b="1" kern="0" spc="0" dirty="0">
                <a:solidFill>
                  <a:srgbClr val="FF0000"/>
                </a:solidFill>
                <a:effectLst/>
                <a:latin typeface="+mj-ea"/>
                <a:ea typeface="+mj-ea"/>
              </a:rPr>
              <a:t> 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포함되는 키워드</a:t>
            </a:r>
          </a:p>
          <a:p>
            <a:pPr marL="0" marR="0" indent="0" algn="ctr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3) 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선수 능력치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/ 5) 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팀 경기성향</a:t>
            </a:r>
          </a:p>
        </p:txBody>
      </p:sp>
    </p:spTree>
    <p:extLst>
      <p:ext uri="{BB962C8B-B14F-4D97-AF65-F5344CB8AC3E}">
        <p14:creationId xmlns:p14="http://schemas.microsoft.com/office/powerpoint/2010/main" val="1032635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1AE1FE-EC63-46CD-BC23-B81A06109820}"/>
              </a:ext>
            </a:extLst>
          </p:cNvPr>
          <p:cNvSpPr txBox="1"/>
          <p:nvPr/>
        </p:nvSpPr>
        <p:spPr>
          <a:xfrm>
            <a:off x="930086" y="1719519"/>
            <a:ext cx="707327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+mn-ea"/>
              </a:rPr>
              <a:t>(1)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+mn-ea"/>
              </a:rPr>
              <a:t>팀 성적 데이터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+mn-ea"/>
              </a:rPr>
              <a:t>(10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+mn-ea"/>
              </a:rPr>
              <a:t>년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+mn-ea"/>
              </a:rPr>
              <a:t>) </a:t>
            </a:r>
            <a:r>
              <a:rPr lang="en-US" altLang="ko-KR" sz="1600" kern="0" spc="0" dirty="0">
                <a:effectLst/>
                <a:latin typeface="+mn-ea"/>
              </a:rPr>
              <a:t>[</a:t>
            </a:r>
            <a:r>
              <a:rPr lang="en-US" altLang="ko-KR" sz="1600" b="1" kern="0" spc="0" dirty="0">
                <a:effectLst/>
                <a:latin typeface="+mn-ea"/>
              </a:rPr>
              <a:t>6 </a:t>
            </a:r>
            <a:r>
              <a:rPr lang="ko-KR" altLang="en-US" sz="1600" b="1" kern="0" spc="0" dirty="0">
                <a:effectLst/>
                <a:latin typeface="+mn-ea"/>
              </a:rPr>
              <a:t>팀 경기성향</a:t>
            </a:r>
            <a:r>
              <a:rPr lang="en-US" altLang="ko-KR" sz="1600" kern="0" spc="0" dirty="0">
                <a:effectLst/>
                <a:latin typeface="+mn-ea"/>
              </a:rPr>
              <a:t>]</a:t>
            </a:r>
            <a:endParaRPr lang="ko-KR" altLang="en-US" sz="1600" kern="0" spc="0" dirty="0"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+mn-ea"/>
              </a:rPr>
              <a:t>-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+mn-ea"/>
              </a:rPr>
              <a:t>타격                                   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+mn-ea"/>
              </a:rPr>
              <a:t>-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+mn-ea"/>
              </a:rPr>
              <a:t>투구                               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+mn-ea"/>
              </a:rPr>
              <a:t>-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+mn-ea"/>
              </a:rPr>
              <a:t>수비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6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6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6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+mn-ea"/>
              </a:rPr>
              <a:t>(2)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+mn-ea"/>
              </a:rPr>
              <a:t>선수 성적 데이터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+mn-ea"/>
              </a:rPr>
              <a:t>(5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+mn-ea"/>
              </a:rPr>
              <a:t>년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+mn-ea"/>
              </a:rPr>
              <a:t>/2018~ 2023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+mn-ea"/>
              </a:rPr>
              <a:t>전반기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+mn-ea"/>
              </a:rPr>
              <a:t>) </a:t>
            </a:r>
            <a:r>
              <a:rPr lang="en-US" altLang="ko-KR" sz="1600" kern="0" spc="0" dirty="0">
                <a:effectLst/>
                <a:latin typeface="+mn-ea"/>
              </a:rPr>
              <a:t>[</a:t>
            </a:r>
            <a:r>
              <a:rPr lang="en-US" altLang="ko-KR" sz="1600" b="1" kern="0" spc="0" dirty="0">
                <a:effectLst/>
                <a:latin typeface="+mn-ea"/>
              </a:rPr>
              <a:t>3 </a:t>
            </a:r>
            <a:r>
              <a:rPr lang="ko-KR" altLang="en-US" sz="1600" b="1" kern="0" spc="0" dirty="0">
                <a:effectLst/>
                <a:latin typeface="+mn-ea"/>
              </a:rPr>
              <a:t>선수 능력치</a:t>
            </a:r>
            <a:r>
              <a:rPr lang="en-US" altLang="ko-KR" sz="1600" kern="0" spc="0" dirty="0">
                <a:effectLst/>
                <a:latin typeface="+mn-ea"/>
              </a:rPr>
              <a:t>]</a:t>
            </a:r>
            <a:endParaRPr lang="ko-KR" altLang="en-US" sz="1600" kern="0" spc="0" dirty="0"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+mn-ea"/>
              </a:rPr>
              <a:t>-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+mn-ea"/>
              </a:rPr>
              <a:t>타격                                   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+mn-ea"/>
              </a:rPr>
              <a:t>-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+mn-ea"/>
              </a:rPr>
              <a:t>투구                               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+mn-ea"/>
              </a:rPr>
              <a:t>-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+mn-ea"/>
              </a:rPr>
              <a:t>수비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600" kern="0" dirty="0">
              <a:solidFill>
                <a:srgbClr val="000000"/>
              </a:solidFill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6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600" kern="0" spc="0" dirty="0">
              <a:solidFill>
                <a:srgbClr val="000000"/>
              </a:solidFill>
              <a:effectLst/>
              <a:latin typeface="+mn-ea"/>
            </a:endParaRPr>
          </a:p>
          <a:p>
            <a:endParaRPr lang="ko-KR" altLang="en-US" sz="1600" dirty="0">
              <a:latin typeface="+mn-ea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755BA3A2-CF48-3243-441E-9E66E5E72F4E}"/>
              </a:ext>
            </a:extLst>
          </p:cNvPr>
          <p:cNvSpPr txBox="1">
            <a:spLocks/>
          </p:cNvSpPr>
          <p:nvPr/>
        </p:nvSpPr>
        <p:spPr>
          <a:xfrm>
            <a:off x="894348" y="32124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/>
              <a:t>2-1(1).</a:t>
            </a:r>
            <a:r>
              <a:rPr lang="ko-KR" altLang="en-US" sz="4000" b="1" dirty="0"/>
              <a:t> 직접 분석 데이터 처리방안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EF13D4-9B3A-0EAA-287C-80B13AAC3BE1}"/>
              </a:ext>
            </a:extLst>
          </p:cNvPr>
          <p:cNvSpPr txBox="1"/>
          <p:nvPr/>
        </p:nvSpPr>
        <p:spPr>
          <a:xfrm>
            <a:off x="3913844" y="6070323"/>
            <a:ext cx="79592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kern="0" dirty="0">
                <a:solidFill>
                  <a:srgbClr val="000000"/>
                </a:solidFill>
                <a:latin typeface="+mn-ea"/>
              </a:rPr>
              <a:t>-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+mn-ea"/>
              </a:rPr>
              <a:t>&gt;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+mn-ea"/>
              </a:rPr>
              <a:t>팀 성적 데이터와 선수 성적데이터를 각각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+mn-ea"/>
              </a:rPr>
              <a:t>10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+mn-ea"/>
              </a:rPr>
              <a:t>년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+mn-ea"/>
              </a:rPr>
              <a:t>/ 5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+mn-ea"/>
              </a:rPr>
              <a:t>년으로 범위 설정하여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+mn-ea"/>
              </a:rPr>
              <a:t>–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+mn-ea"/>
              </a:rPr>
              <a:t>타격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+mn-ea"/>
              </a:rPr>
              <a:t>/-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+mn-ea"/>
              </a:rPr>
              <a:t>투구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+mn-ea"/>
              </a:rPr>
              <a:t>/-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+mn-ea"/>
              </a:rPr>
              <a:t>수비 데이터로 나누어 처리한다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+mn-ea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16FA275-84C9-50CF-15CD-44CCC4678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45" y="2640674"/>
            <a:ext cx="2362199" cy="87512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734BD0C-DE33-595A-78F3-5349B7637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257" y="2640673"/>
            <a:ext cx="2362200" cy="87512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78B723B-F647-7B69-FD28-4D1C14809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520" y="4598884"/>
            <a:ext cx="2981121" cy="87512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B8B0F78-0908-727C-96B5-846758484A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050" y="4598884"/>
            <a:ext cx="3409950" cy="85725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EBE2848-C1CF-7FC1-585D-6E135FAB1A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2380" y="4598884"/>
            <a:ext cx="2718931" cy="85725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9059F17-E92A-3B33-3F9B-6BC1486C52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3844" y="2559121"/>
            <a:ext cx="2524125" cy="95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79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29E2CC9-D2A7-115A-4AAF-3FF04CC23113}"/>
              </a:ext>
            </a:extLst>
          </p:cNvPr>
          <p:cNvSpPr txBox="1"/>
          <p:nvPr/>
        </p:nvSpPr>
        <p:spPr>
          <a:xfrm>
            <a:off x="415891" y="1690688"/>
            <a:ext cx="5350208" cy="4907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dirty="0">
                <a:solidFill>
                  <a:srgbClr val="000000"/>
                </a:solidFill>
                <a:latin typeface="+mn-ea"/>
              </a:rPr>
              <a:t>1.</a:t>
            </a:r>
            <a:r>
              <a:rPr lang="ko-KR" altLang="en-US" kern="0" dirty="0">
                <a:solidFill>
                  <a:srgbClr val="000000"/>
                </a:solidFill>
                <a:latin typeface="+mn-ea"/>
              </a:rPr>
              <a:t> 빈 값으로 되어있는 열</a:t>
            </a:r>
            <a:r>
              <a:rPr lang="en-US" altLang="ko-KR" kern="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kern="0" dirty="0">
                <a:solidFill>
                  <a:srgbClr val="000000"/>
                </a:solidFill>
                <a:latin typeface="+mn-ea"/>
              </a:rPr>
              <a:t>컬럼</a:t>
            </a:r>
            <a:r>
              <a:rPr lang="en-US" altLang="ko-KR" kern="0" dirty="0">
                <a:solidFill>
                  <a:srgbClr val="000000"/>
                </a:solidFill>
                <a:latin typeface="+mn-ea"/>
              </a:rPr>
              <a:t>)</a:t>
            </a:r>
            <a:r>
              <a:rPr lang="ko-KR" altLang="en-US" kern="0" dirty="0">
                <a:solidFill>
                  <a:srgbClr val="000000"/>
                </a:solidFill>
                <a:latin typeface="+mn-ea"/>
              </a:rPr>
              <a:t>이 존재하여 빈 값을 </a:t>
            </a:r>
            <a:r>
              <a:rPr lang="en-US" altLang="ko-KR" kern="0" dirty="0">
                <a:solidFill>
                  <a:srgbClr val="000000"/>
                </a:solidFill>
                <a:latin typeface="+mn-ea"/>
              </a:rPr>
              <a:t>0</a:t>
            </a:r>
            <a:r>
              <a:rPr lang="ko-KR" altLang="en-US" kern="0" dirty="0">
                <a:solidFill>
                  <a:srgbClr val="000000"/>
                </a:solidFill>
                <a:latin typeface="+mn-ea"/>
              </a:rPr>
              <a:t>으로 처리</a:t>
            </a:r>
            <a:endParaRPr lang="en-US" altLang="ko-KR" kern="0" dirty="0">
              <a:solidFill>
                <a:srgbClr val="000000"/>
              </a:solidFill>
              <a:latin typeface="+mn-ea"/>
            </a:endParaRPr>
          </a:p>
          <a:p>
            <a:pPr marR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R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2. ob</a:t>
            </a:r>
            <a:r>
              <a:rPr lang="en-US" altLang="ko-KR" kern="0" dirty="0">
                <a:solidFill>
                  <a:srgbClr val="000000"/>
                </a:solidFill>
                <a:latin typeface="+mn-ea"/>
              </a:rPr>
              <a:t>ject</a:t>
            </a:r>
            <a:r>
              <a:rPr lang="ko-KR" altLang="en-US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kern="0" dirty="0">
                <a:solidFill>
                  <a:srgbClr val="000000"/>
                </a:solidFill>
                <a:latin typeface="+mn-ea"/>
              </a:rPr>
              <a:t>type</a:t>
            </a:r>
            <a:r>
              <a:rPr lang="ko-KR" altLang="en-US" kern="0" dirty="0">
                <a:solidFill>
                  <a:srgbClr val="000000"/>
                </a:solidFill>
                <a:latin typeface="+mn-ea"/>
              </a:rPr>
              <a:t>으로 되어있는 변수들을 </a:t>
            </a:r>
            <a:r>
              <a:rPr lang="en-US" altLang="ko-KR" kern="0" dirty="0">
                <a:solidFill>
                  <a:srgbClr val="000000"/>
                </a:solidFill>
                <a:latin typeface="+mn-ea"/>
              </a:rPr>
              <a:t>float type </a:t>
            </a:r>
            <a:r>
              <a:rPr lang="ko-KR" altLang="en-US" kern="0" dirty="0">
                <a:solidFill>
                  <a:srgbClr val="000000"/>
                </a:solidFill>
                <a:latin typeface="+mn-ea"/>
              </a:rPr>
              <a:t>으로 변경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3.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타석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/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이닝이 적은 값들을 가진 데이터는 이상치를 가지는 값들이 많이 존재하기때문에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타격 데이터는 평균타석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수비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,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투수 데이터는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+mn-ea"/>
              </a:rPr>
              <a:t>평균이닝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 이하 데이터를 삭제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.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CE1EBD-5D59-BFF4-DD14-6DED6CDFE6A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/>
              <a:t>2-2.</a:t>
            </a:r>
            <a:r>
              <a:rPr lang="ko-KR" altLang="en-US" sz="4000" b="1"/>
              <a:t> 데이터 전처리</a:t>
            </a:r>
            <a:endParaRPr lang="ko-KR" altLang="en-US" sz="4000" b="1" dirty="0"/>
          </a:p>
        </p:txBody>
      </p:sp>
      <p:pic>
        <p:nvPicPr>
          <p:cNvPr id="8" name="그림 7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80137A15-2F93-9272-A92D-7E2ACE662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3384340"/>
            <a:ext cx="5707826" cy="15337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0656FFB-6F92-7908-8C58-2B8CA3168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609118"/>
            <a:ext cx="5707826" cy="139459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F959766-330D-C8FE-883F-EE8F89363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58" y="5298741"/>
            <a:ext cx="5707827" cy="96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436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29E2CC9-D2A7-115A-4AAF-3FF04CC23113}"/>
              </a:ext>
            </a:extLst>
          </p:cNvPr>
          <p:cNvSpPr txBox="1"/>
          <p:nvPr/>
        </p:nvSpPr>
        <p:spPr>
          <a:xfrm>
            <a:off x="838200" y="1794626"/>
            <a:ext cx="8609064" cy="180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선수 개인 공격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득점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)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데이터에 영향 가장 높은 변수 추출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공격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득점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이라고 설정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+mn-ea"/>
              </a:rPr>
              <a:t>득점율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 높을 때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,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 높은 유의미한 상관관계 있는 변수 추출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CE1EBD-5D59-BFF4-DD14-6DED6CDFE6A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/>
              <a:t>2-2.</a:t>
            </a:r>
            <a:r>
              <a:rPr lang="ko-KR" altLang="en-US" sz="4000" b="1" dirty="0"/>
              <a:t> </a:t>
            </a:r>
            <a:r>
              <a:rPr lang="ko-KR" altLang="en-US" sz="4000" b="1" dirty="0">
                <a:latin typeface="Gigi" panose="04040504061007020D02" pitchFamily="82" charset="0"/>
              </a:rPr>
              <a:t>데이터</a:t>
            </a:r>
            <a:r>
              <a:rPr lang="ko-KR" altLang="en-US" sz="4000" b="1" dirty="0"/>
              <a:t> </a:t>
            </a:r>
            <a:r>
              <a:rPr lang="ko-KR" altLang="en-US" sz="4000" b="1" dirty="0" err="1"/>
              <a:t>전처리</a:t>
            </a:r>
            <a:r>
              <a:rPr lang="ko-KR" altLang="en-US" sz="4000" b="1" dirty="0"/>
              <a:t> </a:t>
            </a:r>
            <a:r>
              <a:rPr lang="en-US" altLang="ko-KR" sz="4000" b="1" dirty="0"/>
              <a:t>- </a:t>
            </a:r>
            <a:r>
              <a:rPr lang="ko-KR" altLang="en-US" sz="4000" b="1" dirty="0"/>
              <a:t>공격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4B3B039-A08D-36B3-5E09-847FF52C5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211" y="2833184"/>
            <a:ext cx="5177618" cy="23796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8CA229-5AC7-3CD6-E746-F273AC7A9AF3}"/>
              </a:ext>
            </a:extLst>
          </p:cNvPr>
          <p:cNvSpPr txBox="1"/>
          <p:nvPr/>
        </p:nvSpPr>
        <p:spPr>
          <a:xfrm>
            <a:off x="3351160" y="6355350"/>
            <a:ext cx="8840840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kern="0" spc="0" dirty="0">
                <a:effectLst/>
                <a:latin typeface="+mj-ea"/>
                <a:ea typeface="+mj-ea"/>
              </a:rPr>
              <a:t>-) </a:t>
            </a:r>
            <a:r>
              <a:rPr lang="ko-KR" altLang="en-US" sz="1800" b="1" kern="0" spc="0" dirty="0">
                <a:effectLst/>
                <a:latin typeface="+mj-ea"/>
                <a:ea typeface="+mj-ea"/>
              </a:rPr>
              <a:t>포지션별 공격 </a:t>
            </a:r>
            <a:r>
              <a:rPr lang="en-US" altLang="ko-KR" sz="1800" b="1" kern="0" spc="0" dirty="0">
                <a:effectLst/>
                <a:latin typeface="+mj-ea"/>
                <a:ea typeface="+mj-ea"/>
              </a:rPr>
              <a:t>– </a:t>
            </a:r>
            <a:r>
              <a:rPr lang="en-US" altLang="ko-KR" sz="1800" b="1" kern="0" spc="0" dirty="0">
                <a:solidFill>
                  <a:srgbClr val="FFC000"/>
                </a:solidFill>
                <a:effectLst/>
                <a:latin typeface="+mj-ea"/>
                <a:ea typeface="+mj-ea"/>
              </a:rPr>
              <a:t>AVG(</a:t>
            </a:r>
            <a:r>
              <a:rPr lang="ko-KR" altLang="en-US" sz="1800" b="1" kern="0" spc="0" dirty="0">
                <a:solidFill>
                  <a:srgbClr val="FFC000"/>
                </a:solidFill>
                <a:effectLst/>
                <a:latin typeface="+mj-ea"/>
                <a:ea typeface="+mj-ea"/>
              </a:rPr>
              <a:t>타율</a:t>
            </a:r>
            <a:r>
              <a:rPr lang="en-US" altLang="ko-KR" sz="1800" b="1" kern="0" spc="0" dirty="0">
                <a:solidFill>
                  <a:srgbClr val="FFC000"/>
                </a:solidFill>
                <a:effectLst/>
                <a:latin typeface="+mj-ea"/>
                <a:ea typeface="+mj-ea"/>
              </a:rPr>
              <a:t>) </a:t>
            </a:r>
            <a:r>
              <a:rPr lang="en-US" altLang="ko-KR" sz="1800" b="1" kern="0" spc="0" dirty="0">
                <a:effectLst/>
                <a:latin typeface="+mj-ea"/>
                <a:ea typeface="+mj-ea"/>
              </a:rPr>
              <a:t>/ </a:t>
            </a:r>
            <a:r>
              <a:rPr lang="en-US" altLang="ko-KR" sz="1800" b="1" kern="0" spc="0" dirty="0">
                <a:solidFill>
                  <a:srgbClr val="FFC000"/>
                </a:solidFill>
                <a:effectLst/>
                <a:latin typeface="+mj-ea"/>
                <a:ea typeface="+mj-ea"/>
              </a:rPr>
              <a:t>OPS(</a:t>
            </a:r>
            <a:r>
              <a:rPr lang="ko-KR" altLang="en-US" sz="1800" b="1" kern="0" spc="0" dirty="0">
                <a:solidFill>
                  <a:srgbClr val="FFC000"/>
                </a:solidFill>
                <a:effectLst/>
                <a:latin typeface="+mj-ea"/>
                <a:ea typeface="+mj-ea"/>
              </a:rPr>
              <a:t>득점</a:t>
            </a:r>
            <a:r>
              <a:rPr lang="en-US" altLang="ko-KR" sz="1800" b="1" kern="0" spc="0" dirty="0">
                <a:solidFill>
                  <a:srgbClr val="FFC000"/>
                </a:solidFill>
                <a:effectLst/>
                <a:latin typeface="+mj-ea"/>
                <a:ea typeface="+mj-ea"/>
              </a:rPr>
              <a:t>) </a:t>
            </a:r>
            <a:r>
              <a:rPr lang="en-US" altLang="ko-KR" sz="1800" b="1" kern="0" spc="0" dirty="0">
                <a:effectLst/>
                <a:latin typeface="+mj-ea"/>
                <a:ea typeface="+mj-ea"/>
              </a:rPr>
              <a:t>/ </a:t>
            </a:r>
            <a:r>
              <a:rPr lang="en-US" altLang="ko-KR" sz="1800" b="1" kern="0" spc="0" dirty="0">
                <a:solidFill>
                  <a:srgbClr val="00B0F0"/>
                </a:solidFill>
                <a:effectLst/>
                <a:latin typeface="+mj-ea"/>
                <a:ea typeface="+mj-ea"/>
              </a:rPr>
              <a:t>WAR</a:t>
            </a:r>
            <a:r>
              <a:rPr lang="en-US" altLang="ko-KR" sz="1800" b="1" kern="0" spc="0" dirty="0">
                <a:effectLst/>
                <a:latin typeface="+mj-ea"/>
                <a:ea typeface="+mj-ea"/>
              </a:rPr>
              <a:t> / </a:t>
            </a:r>
            <a:r>
              <a:rPr lang="en-US" altLang="ko-KR" sz="1800" b="1" kern="0" spc="0" dirty="0" err="1">
                <a:solidFill>
                  <a:srgbClr val="92D050"/>
                </a:solidFill>
                <a:effectLst/>
                <a:latin typeface="+mj-ea"/>
                <a:ea typeface="+mj-ea"/>
              </a:rPr>
              <a:t>wRC</a:t>
            </a:r>
            <a:r>
              <a:rPr lang="en-US" altLang="ko-KR" sz="1800" b="1" kern="0" spc="0" dirty="0">
                <a:solidFill>
                  <a:srgbClr val="92D050"/>
                </a:solidFill>
                <a:effectLst/>
                <a:latin typeface="+mj-ea"/>
                <a:ea typeface="+mj-ea"/>
              </a:rPr>
              <a:t>+ </a:t>
            </a:r>
            <a:r>
              <a:rPr lang="en-US" altLang="ko-KR" sz="1800" b="1" kern="0" spc="0" dirty="0">
                <a:effectLst/>
                <a:latin typeface="+mj-ea"/>
                <a:ea typeface="+mj-ea"/>
              </a:rPr>
              <a:t>/ </a:t>
            </a:r>
            <a:r>
              <a:rPr lang="ko-KR" altLang="en-US" sz="1800" b="1" kern="0" spc="0" dirty="0">
                <a:solidFill>
                  <a:srgbClr val="FFC000"/>
                </a:solidFill>
                <a:effectLst/>
                <a:latin typeface="+mj-ea"/>
                <a:ea typeface="+mj-ea"/>
              </a:rPr>
              <a:t>득점</a:t>
            </a:r>
            <a:r>
              <a:rPr lang="ko-KR" altLang="en-US" sz="1800" b="1" kern="0" spc="0" dirty="0">
                <a:effectLst/>
                <a:latin typeface="+mj-ea"/>
                <a:ea typeface="+mj-ea"/>
              </a:rPr>
              <a:t> </a:t>
            </a:r>
            <a:r>
              <a:rPr lang="en-US" altLang="ko-KR" sz="1800" b="1" kern="0" spc="0" dirty="0">
                <a:effectLst/>
                <a:latin typeface="+mj-ea"/>
                <a:ea typeface="+mj-ea"/>
              </a:rPr>
              <a:t>/ </a:t>
            </a:r>
            <a:r>
              <a:rPr lang="ko-KR" altLang="en-US" sz="1800" b="1" kern="0" spc="0" dirty="0">
                <a:effectLst/>
                <a:latin typeface="+mj-ea"/>
                <a:ea typeface="+mj-ea"/>
              </a:rPr>
              <a:t>도루 변수 추출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D51DE4-B2BB-6070-4805-C48B1AD49810}"/>
              </a:ext>
            </a:extLst>
          </p:cNvPr>
          <p:cNvSpPr txBox="1"/>
          <p:nvPr/>
        </p:nvSpPr>
        <p:spPr>
          <a:xfrm>
            <a:off x="237674" y="5323324"/>
            <a:ext cx="598038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Ex) 2014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년 장타 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위 팀 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= 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넥센</a:t>
            </a:r>
            <a:endParaRPr lang="en-US" altLang="ko-KR" sz="1400" kern="0" dirty="0">
              <a:solidFill>
                <a:srgbClr val="000000"/>
              </a:solidFill>
              <a:latin typeface="+mn-ea"/>
            </a:endParaRPr>
          </a:p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2014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년 넥센 정규 순위 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2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위</a:t>
            </a:r>
            <a:endParaRPr lang="en-US" altLang="ko-KR" sz="1400" kern="0" dirty="0">
              <a:solidFill>
                <a:srgbClr val="000000"/>
              </a:solidFill>
              <a:latin typeface="+mn-ea"/>
            </a:endParaRPr>
          </a:p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2014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년 장타 점수 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= 9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점</a:t>
            </a:r>
            <a:endParaRPr lang="en-US" altLang="ko-KR" sz="1400" kern="0" dirty="0">
              <a:solidFill>
                <a:srgbClr val="000000"/>
              </a:solidFill>
              <a:latin typeface="+mn-ea"/>
            </a:endParaRPr>
          </a:p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ko-KR" altLang="en-US" sz="1400" kern="0" dirty="0" err="1">
                <a:solidFill>
                  <a:srgbClr val="000000"/>
                </a:solidFill>
                <a:latin typeface="+mn-ea"/>
              </a:rPr>
              <a:t>이와같은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 방법으로 장타 점수를 구해보면</a:t>
            </a:r>
            <a:endParaRPr lang="en-US" altLang="ko-KR" sz="1400" kern="0" dirty="0">
              <a:solidFill>
                <a:srgbClr val="000000"/>
              </a:solidFill>
              <a:latin typeface="+mn-ea"/>
            </a:endParaRPr>
          </a:p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9+7+10+10+9+6+10+5+6+9 = 81 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점이 나온다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.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B247AE7-67B8-E803-716D-99AAD1E5F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428477"/>
              </p:ext>
            </p:extLst>
          </p:nvPr>
        </p:nvGraphicFramePr>
        <p:xfrm>
          <a:off x="582770" y="2869322"/>
          <a:ext cx="5858326" cy="21519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6636">
                  <a:extLst>
                    <a:ext uri="{9D8B030D-6E8A-4147-A177-3AD203B41FA5}">
                      <a16:colId xmlns:a16="http://schemas.microsoft.com/office/drawing/2014/main" val="2024207368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2829059067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2604818317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3600044263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2456689306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856645342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299564893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4107793420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55378692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2497372470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3902822000"/>
                    </a:ext>
                  </a:extLst>
                </a:gridCol>
              </a:tblGrid>
              <a:tr h="195631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2014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2015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2016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2017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2018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2019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2020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2021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2022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2023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49968399"/>
                  </a:ext>
                </a:extLst>
              </a:tr>
              <a:tr h="1956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SSG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77011866"/>
                  </a:ext>
                </a:extLst>
              </a:tr>
              <a:tr h="1956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넥센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키움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키움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SSG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29538493"/>
                  </a:ext>
                </a:extLst>
              </a:tr>
              <a:tr h="1956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3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넥센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02077345"/>
                  </a:ext>
                </a:extLst>
              </a:tr>
              <a:tr h="1956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4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넥센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넥센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76746664"/>
                  </a:ext>
                </a:extLst>
              </a:tr>
              <a:tr h="1956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5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키움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키움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27883888"/>
                  </a:ext>
                </a:extLst>
              </a:tr>
              <a:tr h="1956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6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SSG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89902694"/>
                  </a:ext>
                </a:extLst>
              </a:tr>
              <a:tr h="1956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7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넥센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39643151"/>
                  </a:ext>
                </a:extLst>
              </a:tr>
              <a:tr h="1956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</a:rPr>
                        <a:t>8</a:t>
                      </a:r>
                      <a:r>
                        <a:rPr lang="ko-KR" altLang="en-US" sz="1100" u="none" strike="noStrike" dirty="0">
                          <a:effectLst/>
                        </a:rPr>
                        <a:t>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KIA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14106665"/>
                  </a:ext>
                </a:extLst>
              </a:tr>
              <a:tr h="1956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9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키움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1254597"/>
                  </a:ext>
                </a:extLst>
              </a:tr>
              <a:tr h="1956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10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</a:rPr>
                        <a:t>삼성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57307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0319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29E2CC9-D2A7-115A-4AAF-3FF04CC23113}"/>
              </a:ext>
            </a:extLst>
          </p:cNvPr>
          <p:cNvSpPr txBox="1"/>
          <p:nvPr/>
        </p:nvSpPr>
        <p:spPr>
          <a:xfrm>
            <a:off x="838200" y="1794626"/>
            <a:ext cx="8609064" cy="1361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선수 개인 </a:t>
            </a:r>
            <a:r>
              <a:rPr lang="ko-KR" altLang="en-US" kern="0" dirty="0">
                <a:solidFill>
                  <a:srgbClr val="000000"/>
                </a:solidFill>
                <a:latin typeface="+mn-ea"/>
              </a:rPr>
              <a:t>수비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데이터에 영향 가장 높은 변수 추출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수비라고 설정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수비율 높을 때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,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 높은 유의미한 상관관계 있는 변수 추출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CE1EBD-5D59-BFF4-DD14-6DED6CDFE6A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/>
              <a:t>2-2.</a:t>
            </a:r>
            <a:r>
              <a:rPr lang="ko-KR" altLang="en-US" sz="4000" b="1" dirty="0"/>
              <a:t> </a:t>
            </a:r>
            <a:r>
              <a:rPr lang="ko-KR" altLang="en-US" sz="4000" b="1" dirty="0">
                <a:latin typeface="Gigi" panose="04040504061007020D02" pitchFamily="82" charset="0"/>
              </a:rPr>
              <a:t>데이터</a:t>
            </a:r>
            <a:r>
              <a:rPr lang="ko-KR" altLang="en-US" sz="4000" b="1" dirty="0"/>
              <a:t> </a:t>
            </a:r>
            <a:r>
              <a:rPr lang="ko-KR" altLang="en-US" sz="4000" b="1" dirty="0" err="1"/>
              <a:t>전처리</a:t>
            </a:r>
            <a:r>
              <a:rPr lang="ko-KR" altLang="en-US" sz="4000" b="1" dirty="0"/>
              <a:t> </a:t>
            </a:r>
            <a:r>
              <a:rPr lang="en-US" altLang="ko-KR" sz="4000" b="1" dirty="0"/>
              <a:t>- </a:t>
            </a:r>
            <a:r>
              <a:rPr lang="ko-KR" altLang="en-US" sz="4000" b="1" dirty="0"/>
              <a:t>수비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8CA229-5AC7-3CD6-E746-F273AC7A9AF3}"/>
              </a:ext>
            </a:extLst>
          </p:cNvPr>
          <p:cNvSpPr txBox="1"/>
          <p:nvPr/>
        </p:nvSpPr>
        <p:spPr>
          <a:xfrm>
            <a:off x="3951686" y="6134106"/>
            <a:ext cx="8240314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kern="0" spc="0" dirty="0">
                <a:effectLst/>
                <a:latin typeface="+mj-ea"/>
                <a:ea typeface="+mj-ea"/>
              </a:rPr>
              <a:t>-) </a:t>
            </a:r>
            <a:r>
              <a:rPr lang="ko-KR" altLang="en-US" sz="1800" b="1" kern="0" spc="0" dirty="0">
                <a:effectLst/>
                <a:latin typeface="+mj-ea"/>
                <a:ea typeface="+mj-ea"/>
              </a:rPr>
              <a:t>포지션별 </a:t>
            </a:r>
            <a:r>
              <a:rPr lang="ko-KR" altLang="en-US" b="1" kern="0" dirty="0">
                <a:latin typeface="+mj-ea"/>
                <a:ea typeface="+mj-ea"/>
              </a:rPr>
              <a:t>수비</a:t>
            </a:r>
            <a:r>
              <a:rPr lang="ko-KR" altLang="en-US" sz="1800" b="1" kern="0" spc="0" dirty="0">
                <a:effectLst/>
                <a:latin typeface="+mj-ea"/>
                <a:ea typeface="+mj-ea"/>
              </a:rPr>
              <a:t> </a:t>
            </a:r>
            <a:r>
              <a:rPr lang="en-US" altLang="ko-KR" sz="1800" b="1" kern="0" spc="0" dirty="0">
                <a:effectLst/>
                <a:latin typeface="+mj-ea"/>
                <a:ea typeface="+mj-ea"/>
              </a:rPr>
              <a:t>–</a:t>
            </a:r>
            <a:r>
              <a:rPr lang="ko-KR" altLang="en-US" sz="1800" b="1" kern="0" spc="0" dirty="0">
                <a:solidFill>
                  <a:schemeClr val="accent5"/>
                </a:solidFill>
                <a:effectLst/>
                <a:latin typeface="+mj-ea"/>
                <a:ea typeface="+mj-ea"/>
              </a:rPr>
              <a:t>실책</a:t>
            </a:r>
            <a:r>
              <a:rPr lang="en-US" altLang="ko-KR" sz="1800" b="1" kern="0" spc="0" dirty="0">
                <a:solidFill>
                  <a:schemeClr val="accent5"/>
                </a:solidFill>
                <a:effectLst/>
                <a:latin typeface="+mj-ea"/>
                <a:ea typeface="+mj-ea"/>
              </a:rPr>
              <a:t>(</a:t>
            </a:r>
            <a:r>
              <a:rPr lang="ko-KR" altLang="en-US" sz="1800" b="1" kern="0" spc="0" dirty="0" err="1">
                <a:solidFill>
                  <a:schemeClr val="accent5"/>
                </a:solidFill>
                <a:effectLst/>
                <a:latin typeface="+mj-ea"/>
                <a:ea typeface="+mj-ea"/>
              </a:rPr>
              <a:t>적은순서</a:t>
            </a:r>
            <a:r>
              <a:rPr lang="en-US" altLang="ko-KR" sz="1800" b="1" kern="0" spc="0" dirty="0">
                <a:solidFill>
                  <a:schemeClr val="accent5"/>
                </a:solidFill>
                <a:effectLst/>
                <a:latin typeface="+mj-ea"/>
                <a:ea typeface="+mj-ea"/>
              </a:rPr>
              <a:t>)</a:t>
            </a:r>
            <a:r>
              <a:rPr lang="en-US" altLang="ko-KR" sz="1800" b="1" kern="0" spc="0" dirty="0">
                <a:effectLst/>
                <a:latin typeface="+mj-ea"/>
                <a:ea typeface="+mj-ea"/>
              </a:rPr>
              <a:t>/ </a:t>
            </a:r>
            <a:r>
              <a:rPr lang="ko-KR" altLang="en-US" sz="1800" b="1" kern="0" spc="0" dirty="0">
                <a:solidFill>
                  <a:schemeClr val="accent5"/>
                </a:solidFill>
                <a:effectLst/>
                <a:latin typeface="+mj-ea"/>
                <a:ea typeface="+mj-ea"/>
              </a:rPr>
              <a:t>수비율</a:t>
            </a:r>
            <a:r>
              <a:rPr lang="en-US" altLang="ko-KR" sz="1800" b="1" kern="0" spc="0" dirty="0">
                <a:effectLst/>
                <a:latin typeface="+mj-ea"/>
                <a:ea typeface="+mj-ea"/>
              </a:rPr>
              <a:t> / </a:t>
            </a:r>
            <a:r>
              <a:rPr lang="en-US" altLang="ko-KR" b="1" kern="0" dirty="0">
                <a:solidFill>
                  <a:srgbClr val="FFC000"/>
                </a:solidFill>
                <a:latin typeface="+mj-ea"/>
                <a:ea typeface="+mj-ea"/>
              </a:rPr>
              <a:t>RNG</a:t>
            </a:r>
            <a:r>
              <a:rPr lang="en-US" altLang="ko-KR" sz="1800" b="1" kern="0" spc="0" dirty="0">
                <a:effectLst/>
                <a:latin typeface="+mj-ea"/>
                <a:ea typeface="+mj-ea"/>
              </a:rPr>
              <a:t> / </a:t>
            </a:r>
            <a:r>
              <a:rPr lang="en-US" altLang="ko-KR" sz="1800" b="1" kern="0" spc="0" dirty="0">
                <a:solidFill>
                  <a:srgbClr val="FFC000"/>
                </a:solidFill>
                <a:effectLst/>
                <a:latin typeface="+mj-ea"/>
                <a:ea typeface="+mj-ea"/>
              </a:rPr>
              <a:t>ARM</a:t>
            </a:r>
            <a:r>
              <a:rPr lang="en-US" altLang="ko-KR" sz="1800" b="1" kern="0" spc="0" dirty="0">
                <a:effectLst/>
                <a:latin typeface="+mj-ea"/>
                <a:ea typeface="+mj-ea"/>
              </a:rPr>
              <a:t> / </a:t>
            </a:r>
            <a:r>
              <a:rPr lang="en-US" altLang="ko-KR" sz="1800" b="1" kern="0" spc="0" dirty="0">
                <a:solidFill>
                  <a:srgbClr val="92D050"/>
                </a:solidFill>
                <a:effectLst/>
                <a:latin typeface="+mj-ea"/>
                <a:ea typeface="+mj-ea"/>
              </a:rPr>
              <a:t>E + </a:t>
            </a:r>
            <a:r>
              <a:rPr lang="en-US" altLang="ko-KR" sz="1800" b="1" kern="0" spc="0" dirty="0">
                <a:effectLst/>
                <a:latin typeface="+mj-ea"/>
                <a:ea typeface="+mj-ea"/>
              </a:rPr>
              <a:t>/ </a:t>
            </a:r>
            <a:r>
              <a:rPr lang="ko-KR" altLang="en-US" sz="1800" b="1" kern="0" spc="0" dirty="0">
                <a:effectLst/>
                <a:latin typeface="+mj-ea"/>
                <a:ea typeface="+mj-ea"/>
              </a:rPr>
              <a:t>변수 추출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ED85ECC-E02E-3824-8E68-B439295FB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968" y="2968549"/>
            <a:ext cx="5205652" cy="2219449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1122AFD-4AB4-8F38-4CA8-8D9DEC57FF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598686"/>
              </p:ext>
            </p:extLst>
          </p:nvPr>
        </p:nvGraphicFramePr>
        <p:xfrm>
          <a:off x="559358" y="2940437"/>
          <a:ext cx="5858326" cy="22475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6636">
                  <a:extLst>
                    <a:ext uri="{9D8B030D-6E8A-4147-A177-3AD203B41FA5}">
                      <a16:colId xmlns:a16="http://schemas.microsoft.com/office/drawing/2014/main" val="2024207368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2829059067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2604818317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3600044263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2456689306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856645342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299564893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4107793420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55378692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2497372470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3902822000"/>
                    </a:ext>
                  </a:extLst>
                </a:gridCol>
              </a:tblGrid>
              <a:tr h="204324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2014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2015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2016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2017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2018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2019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2020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2021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2022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2023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49968399"/>
                  </a:ext>
                </a:extLst>
              </a:tr>
              <a:tr h="20432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SSG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77011866"/>
                  </a:ext>
                </a:extLst>
              </a:tr>
              <a:tr h="20432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넥센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키움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키움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SSG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29538493"/>
                  </a:ext>
                </a:extLst>
              </a:tr>
              <a:tr h="20432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3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NC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넥센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02077345"/>
                  </a:ext>
                </a:extLst>
              </a:tr>
              <a:tr h="20432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4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넥센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넥센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76746664"/>
                  </a:ext>
                </a:extLst>
              </a:tr>
              <a:tr h="20432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5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키움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키움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27883888"/>
                  </a:ext>
                </a:extLst>
              </a:tr>
              <a:tr h="20432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6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SSG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89902694"/>
                  </a:ext>
                </a:extLst>
              </a:tr>
              <a:tr h="20432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7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넥센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39643151"/>
                  </a:ext>
                </a:extLst>
              </a:tr>
              <a:tr h="20432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8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14106665"/>
                  </a:ext>
                </a:extLst>
              </a:tr>
              <a:tr h="20432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9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키움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1254597"/>
                  </a:ext>
                </a:extLst>
              </a:tr>
              <a:tr h="20432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10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</a:rPr>
                        <a:t>한화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</a:rPr>
                        <a:t>삼성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573077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A833915-BCDB-399A-BD17-E2547D170587}"/>
              </a:ext>
            </a:extLst>
          </p:cNvPr>
          <p:cNvSpPr txBox="1"/>
          <p:nvPr/>
        </p:nvSpPr>
        <p:spPr>
          <a:xfrm>
            <a:off x="237674" y="5439621"/>
            <a:ext cx="598038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Ex) 2014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년 </a:t>
            </a:r>
            <a:r>
              <a:rPr lang="en-US" altLang="ko-KR" sz="1400" kern="0" dirty="0" err="1">
                <a:solidFill>
                  <a:srgbClr val="000000"/>
                </a:solidFill>
                <a:latin typeface="+mn-ea"/>
              </a:rPr>
              <a:t>WAAwithADJ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위 팀 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= LG</a:t>
            </a:r>
          </a:p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2014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년 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LG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 정규 순위 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4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위</a:t>
            </a:r>
            <a:endParaRPr lang="en-US" altLang="ko-KR" sz="1400" kern="0" dirty="0">
              <a:solidFill>
                <a:srgbClr val="000000"/>
              </a:solidFill>
              <a:latin typeface="+mn-ea"/>
            </a:endParaRPr>
          </a:p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2014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년 </a:t>
            </a:r>
            <a:r>
              <a:rPr lang="en-US" altLang="ko-KR" sz="1400" kern="0" dirty="0" err="1">
                <a:solidFill>
                  <a:srgbClr val="000000"/>
                </a:solidFill>
                <a:latin typeface="+mn-ea"/>
              </a:rPr>
              <a:t>WAAwithADJ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 점수 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= 7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점</a:t>
            </a:r>
            <a:endParaRPr lang="en-US" altLang="ko-KR" sz="1400" kern="0" dirty="0">
              <a:solidFill>
                <a:srgbClr val="000000"/>
              </a:solidFill>
              <a:latin typeface="+mn-ea"/>
            </a:endParaRPr>
          </a:p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ko-KR" altLang="en-US" sz="1400" kern="0" dirty="0" err="1">
                <a:solidFill>
                  <a:srgbClr val="000000"/>
                </a:solidFill>
                <a:latin typeface="+mn-ea"/>
              </a:rPr>
              <a:t>이와같은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 방법으로 장타 점수를 구해보면</a:t>
            </a:r>
            <a:endParaRPr lang="en-US" altLang="ko-KR" sz="1400" kern="0" dirty="0">
              <a:solidFill>
                <a:srgbClr val="000000"/>
              </a:solidFill>
              <a:latin typeface="+mn-ea"/>
            </a:endParaRPr>
          </a:p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8+9+10+5+8+7+7+7+8+2 = 71 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점이 나온다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876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29E2CC9-D2A7-115A-4AAF-3FF04CC23113}"/>
              </a:ext>
            </a:extLst>
          </p:cNvPr>
          <p:cNvSpPr txBox="1"/>
          <p:nvPr/>
        </p:nvSpPr>
        <p:spPr>
          <a:xfrm>
            <a:off x="838200" y="1794626"/>
            <a:ext cx="8609064" cy="1361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선수 개인 </a:t>
            </a:r>
            <a:r>
              <a:rPr lang="ko-KR" altLang="en-US" kern="0" dirty="0">
                <a:solidFill>
                  <a:srgbClr val="000000"/>
                </a:solidFill>
                <a:latin typeface="+mn-ea"/>
              </a:rPr>
              <a:t>투구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데이터에 영향 가장 높은 변수 추출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투구설정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높을 때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,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 높은 유의미한 상관관계 있는 변수 추출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CE1EBD-5D59-BFF4-DD14-6DED6CDFE6A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/>
              <a:t>2-2.</a:t>
            </a:r>
            <a:r>
              <a:rPr lang="ko-KR" altLang="en-US" sz="4000" b="1" dirty="0"/>
              <a:t> </a:t>
            </a:r>
            <a:r>
              <a:rPr lang="ko-KR" altLang="en-US" sz="4000" b="1" dirty="0">
                <a:latin typeface="Gigi" panose="04040504061007020D02" pitchFamily="82" charset="0"/>
              </a:rPr>
              <a:t>데이터</a:t>
            </a:r>
            <a:r>
              <a:rPr lang="ko-KR" altLang="en-US" sz="4000" b="1" dirty="0"/>
              <a:t> </a:t>
            </a:r>
            <a:r>
              <a:rPr lang="ko-KR" altLang="en-US" sz="4000" b="1" dirty="0" err="1"/>
              <a:t>전처리</a:t>
            </a:r>
            <a:r>
              <a:rPr lang="ko-KR" altLang="en-US" sz="4000" b="1" dirty="0"/>
              <a:t> </a:t>
            </a:r>
            <a:r>
              <a:rPr lang="en-US" altLang="ko-KR" sz="4000" b="1" dirty="0"/>
              <a:t>- </a:t>
            </a:r>
            <a:r>
              <a:rPr lang="ko-KR" altLang="en-US" sz="4000" b="1" dirty="0"/>
              <a:t>투구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8CA229-5AC7-3CD6-E746-F273AC7A9AF3}"/>
              </a:ext>
            </a:extLst>
          </p:cNvPr>
          <p:cNvSpPr txBox="1"/>
          <p:nvPr/>
        </p:nvSpPr>
        <p:spPr>
          <a:xfrm>
            <a:off x="4849639" y="6117902"/>
            <a:ext cx="6964825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kern="0" spc="0" dirty="0">
                <a:effectLst/>
                <a:latin typeface="+mj-ea"/>
                <a:ea typeface="+mj-ea"/>
              </a:rPr>
              <a:t>-) </a:t>
            </a:r>
            <a:r>
              <a:rPr lang="ko-KR" altLang="en-US" sz="1800" b="1" kern="0" spc="0" dirty="0" err="1">
                <a:effectLst/>
                <a:latin typeface="+mj-ea"/>
                <a:ea typeface="+mj-ea"/>
              </a:rPr>
              <a:t>투구별</a:t>
            </a:r>
            <a:r>
              <a:rPr lang="ko-KR" altLang="en-US" sz="1800" b="1" kern="0" spc="0" dirty="0">
                <a:effectLst/>
                <a:latin typeface="+mj-ea"/>
                <a:ea typeface="+mj-ea"/>
              </a:rPr>
              <a:t> </a:t>
            </a:r>
            <a:r>
              <a:rPr lang="en-US" altLang="ko-KR" sz="1800" b="1" kern="0" spc="0" dirty="0">
                <a:effectLst/>
                <a:latin typeface="+mj-ea"/>
                <a:ea typeface="+mj-ea"/>
              </a:rPr>
              <a:t>– </a:t>
            </a:r>
            <a:r>
              <a:rPr lang="ko-KR" altLang="en-US" sz="1800" b="1" kern="0" spc="0" dirty="0">
                <a:solidFill>
                  <a:schemeClr val="accent5"/>
                </a:solidFill>
                <a:effectLst/>
                <a:latin typeface="+mj-ea"/>
                <a:ea typeface="+mj-ea"/>
              </a:rPr>
              <a:t>승</a:t>
            </a:r>
            <a:r>
              <a:rPr lang="ko-KR" altLang="en-US" sz="1800" b="1" kern="0" spc="0" dirty="0">
                <a:effectLst/>
                <a:latin typeface="+mj-ea"/>
                <a:ea typeface="+mj-ea"/>
              </a:rPr>
              <a:t> </a:t>
            </a:r>
            <a:r>
              <a:rPr lang="en-US" altLang="ko-KR" sz="1800" b="1" kern="0" spc="0" dirty="0">
                <a:effectLst/>
                <a:latin typeface="+mj-ea"/>
                <a:ea typeface="+mj-ea"/>
              </a:rPr>
              <a:t>/ </a:t>
            </a:r>
            <a:r>
              <a:rPr lang="ko-KR" altLang="en-US" sz="1800" b="1" kern="0" spc="0" dirty="0">
                <a:solidFill>
                  <a:srgbClr val="92D050"/>
                </a:solidFill>
                <a:effectLst/>
                <a:latin typeface="+mj-ea"/>
                <a:ea typeface="+mj-ea"/>
              </a:rPr>
              <a:t>패</a:t>
            </a:r>
            <a:r>
              <a:rPr lang="en-US" altLang="ko-KR" sz="1800" b="1" kern="0" spc="0" dirty="0">
                <a:solidFill>
                  <a:srgbClr val="92D050"/>
                </a:solidFill>
                <a:effectLst/>
                <a:latin typeface="+mj-ea"/>
                <a:ea typeface="+mj-ea"/>
              </a:rPr>
              <a:t>(</a:t>
            </a:r>
            <a:r>
              <a:rPr lang="ko-KR" altLang="en-US" sz="1800" b="1" kern="0" spc="0" dirty="0" err="1">
                <a:solidFill>
                  <a:srgbClr val="92D050"/>
                </a:solidFill>
                <a:effectLst/>
                <a:latin typeface="+mj-ea"/>
                <a:ea typeface="+mj-ea"/>
              </a:rPr>
              <a:t>적은순서로</a:t>
            </a:r>
            <a:r>
              <a:rPr lang="en-US" altLang="ko-KR" sz="1800" b="1" kern="0" spc="0" dirty="0">
                <a:solidFill>
                  <a:srgbClr val="92D050"/>
                </a:solidFill>
                <a:effectLst/>
                <a:latin typeface="+mj-ea"/>
                <a:ea typeface="+mj-ea"/>
              </a:rPr>
              <a:t>) </a:t>
            </a:r>
            <a:r>
              <a:rPr lang="en-US" altLang="ko-KR" sz="1800" b="1" kern="0" spc="0" dirty="0">
                <a:effectLst/>
                <a:latin typeface="+mj-ea"/>
                <a:ea typeface="+mj-ea"/>
              </a:rPr>
              <a:t>/ </a:t>
            </a:r>
            <a:r>
              <a:rPr lang="en-US" altLang="ko-KR" b="1" kern="0" dirty="0">
                <a:solidFill>
                  <a:srgbClr val="FFC000"/>
                </a:solidFill>
                <a:latin typeface="+mj-ea"/>
                <a:ea typeface="+mj-ea"/>
              </a:rPr>
              <a:t>ERA+</a:t>
            </a:r>
            <a:r>
              <a:rPr lang="en-US" altLang="ko-KR" sz="1800" b="1" kern="0" spc="0" dirty="0">
                <a:effectLst/>
                <a:latin typeface="+mj-ea"/>
                <a:ea typeface="+mj-ea"/>
              </a:rPr>
              <a:t> / </a:t>
            </a:r>
            <a:r>
              <a:rPr lang="en-US" altLang="ko-KR" b="1" kern="0" dirty="0">
                <a:solidFill>
                  <a:srgbClr val="FFC000"/>
                </a:solidFill>
                <a:latin typeface="+mj-ea"/>
                <a:ea typeface="+mj-ea"/>
              </a:rPr>
              <a:t>WPA</a:t>
            </a:r>
            <a:r>
              <a:rPr lang="en-US" altLang="ko-KR" b="1" kern="0" dirty="0">
                <a:latin typeface="+mj-ea"/>
                <a:ea typeface="+mj-ea"/>
              </a:rPr>
              <a:t> </a:t>
            </a:r>
            <a:r>
              <a:rPr lang="en-US" altLang="ko-KR" sz="1800" b="1" kern="0" spc="0" dirty="0">
                <a:effectLst/>
                <a:latin typeface="+mj-ea"/>
                <a:ea typeface="+mj-ea"/>
              </a:rPr>
              <a:t>/ </a:t>
            </a:r>
            <a:r>
              <a:rPr lang="ko-KR" altLang="en-US" sz="1800" b="1" kern="0" spc="0" dirty="0">
                <a:effectLst/>
                <a:latin typeface="+mj-ea"/>
                <a:ea typeface="+mj-ea"/>
              </a:rPr>
              <a:t>변수 추출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E6056C8-4BBA-F648-267A-7440775FF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526" y="2940374"/>
            <a:ext cx="5117938" cy="2215240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9304334-CB60-658E-51F2-6330A423C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62665"/>
              </p:ext>
            </p:extLst>
          </p:nvPr>
        </p:nvGraphicFramePr>
        <p:xfrm>
          <a:off x="599582" y="2924233"/>
          <a:ext cx="5858326" cy="22313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6636">
                  <a:extLst>
                    <a:ext uri="{9D8B030D-6E8A-4147-A177-3AD203B41FA5}">
                      <a16:colId xmlns:a16="http://schemas.microsoft.com/office/drawing/2014/main" val="2024207368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2829059067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2604818317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3600044263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2456689306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856645342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299564893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4107793420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55378692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2497372470"/>
                    </a:ext>
                  </a:extLst>
                </a:gridCol>
                <a:gridCol w="508169">
                  <a:extLst>
                    <a:ext uri="{9D8B030D-6E8A-4147-A177-3AD203B41FA5}">
                      <a16:colId xmlns:a16="http://schemas.microsoft.com/office/drawing/2014/main" val="3902822000"/>
                    </a:ext>
                  </a:extLst>
                </a:gridCol>
              </a:tblGrid>
              <a:tr h="20285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2014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2015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2016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2017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2018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2019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2020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2021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2022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2023</a:t>
                      </a:r>
                      <a:r>
                        <a:rPr lang="ko-KR" altLang="en-US" sz="1100" u="none" strike="noStrike">
                          <a:effectLst/>
                        </a:rPr>
                        <a:t>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49968399"/>
                  </a:ext>
                </a:extLst>
              </a:tr>
              <a:tr h="20285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SSG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77011866"/>
                  </a:ext>
                </a:extLst>
              </a:tr>
              <a:tr h="20285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넥센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키움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키움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SSG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29538493"/>
                  </a:ext>
                </a:extLst>
              </a:tr>
              <a:tr h="20285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3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넥센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02077345"/>
                  </a:ext>
                </a:extLst>
              </a:tr>
              <a:tr h="20285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4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넥센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넥센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76746664"/>
                  </a:ext>
                </a:extLst>
              </a:tr>
              <a:tr h="20285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5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키움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키움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27883888"/>
                  </a:ext>
                </a:extLst>
              </a:tr>
              <a:tr h="20285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6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SSG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89902694"/>
                  </a:ext>
                </a:extLst>
              </a:tr>
              <a:tr h="20285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7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</a:rPr>
                        <a:t>롯데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넥센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39643151"/>
                  </a:ext>
                </a:extLst>
              </a:tr>
              <a:tr h="20285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8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14106665"/>
                  </a:ext>
                </a:extLst>
              </a:tr>
              <a:tr h="20285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9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삼성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두산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키움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1254597"/>
                  </a:ext>
                </a:extLst>
              </a:tr>
              <a:tr h="20285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10</a:t>
                      </a:r>
                      <a:r>
                        <a:rPr lang="ko-KR" altLang="en-US" sz="1100" u="none" strike="noStrike">
                          <a:effectLst/>
                        </a:rPr>
                        <a:t>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롯데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한화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</a:rPr>
                        <a:t>삼성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5730778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F0ADE22-45B1-464F-272B-114AD4310423}"/>
              </a:ext>
            </a:extLst>
          </p:cNvPr>
          <p:cNvSpPr txBox="1"/>
          <p:nvPr/>
        </p:nvSpPr>
        <p:spPr>
          <a:xfrm>
            <a:off x="477520" y="5423417"/>
            <a:ext cx="598038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Ex) 2014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년 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WAR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위 팀 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= 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삼성</a:t>
            </a:r>
            <a:endParaRPr lang="en-US" altLang="ko-KR" sz="1400" kern="0" dirty="0">
              <a:solidFill>
                <a:srgbClr val="000000"/>
              </a:solidFill>
              <a:latin typeface="+mn-ea"/>
            </a:endParaRPr>
          </a:p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2014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년 삼성 정규 순위 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위</a:t>
            </a:r>
            <a:endParaRPr lang="en-US" altLang="ko-KR" sz="1400" kern="0" dirty="0">
              <a:solidFill>
                <a:srgbClr val="000000"/>
              </a:solidFill>
              <a:latin typeface="+mn-ea"/>
            </a:endParaRPr>
          </a:p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2014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년 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WAR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 점수 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= 10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점</a:t>
            </a:r>
            <a:endParaRPr lang="en-US" altLang="ko-KR" sz="1400" kern="0" dirty="0">
              <a:solidFill>
                <a:srgbClr val="000000"/>
              </a:solidFill>
              <a:latin typeface="+mn-ea"/>
            </a:endParaRPr>
          </a:p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ko-KR" altLang="en-US" sz="1400" kern="0" dirty="0" err="1">
                <a:solidFill>
                  <a:srgbClr val="000000"/>
                </a:solidFill>
                <a:latin typeface="+mn-ea"/>
              </a:rPr>
              <a:t>이와같은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 방법으로 장타 점수를 구해보면</a:t>
            </a:r>
            <a:endParaRPr lang="en-US" altLang="ko-KR" sz="1400" kern="0" dirty="0">
              <a:solidFill>
                <a:srgbClr val="000000"/>
              </a:solidFill>
              <a:latin typeface="+mn-ea"/>
            </a:endParaRPr>
          </a:p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10+2+9+8+10+8+9+7+8+2 = 72 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점이 나온다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079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987CF37-9BB4-CEDE-C352-248C1368C1FC}"/>
              </a:ext>
            </a:extLst>
          </p:cNvPr>
          <p:cNvSpPr txBox="1"/>
          <p:nvPr/>
        </p:nvSpPr>
        <p:spPr>
          <a:xfrm>
            <a:off x="4844197" y="2218508"/>
            <a:ext cx="5800358" cy="3836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4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n-ea"/>
              </a:rPr>
              <a:t>AVG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기준 포지션별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n-ea"/>
              </a:rPr>
              <a:t>TOP5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n-ea"/>
              </a:rPr>
              <a:t>1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루수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강백호 박병호 김주찬 러프 강백호 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n-ea"/>
              </a:rPr>
              <a:t>2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루수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박민우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박민우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안치홍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김선빈 신민재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n-ea"/>
              </a:rPr>
              <a:t>3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루수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가르시아 허경민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허경민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강한울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문보경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포수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양의지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양의지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이지영 이재원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양의지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중견수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이정후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이정후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박건우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렉스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홍창기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지명타자 최형우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페르난데스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페르난데스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서건창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김재성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좌익수 김현수 전준우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피렐라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전준우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이천웅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우익수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이정후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손아섭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로하스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유한준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강백호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유격수 김재호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김하성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김하성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김헤성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박성한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D5B80D-8161-824F-BB21-4EAD13472517}"/>
              </a:ext>
            </a:extLst>
          </p:cNvPr>
          <p:cNvSpPr txBox="1"/>
          <p:nvPr/>
        </p:nvSpPr>
        <p:spPr>
          <a:xfrm>
            <a:off x="838200" y="1690688"/>
            <a:ext cx="7837375" cy="47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dirty="0">
                <a:solidFill>
                  <a:srgbClr val="000000"/>
                </a:solidFill>
                <a:latin typeface="+mn-ea"/>
              </a:rPr>
              <a:t>AVG </a:t>
            </a:r>
            <a:r>
              <a:rPr lang="ko-KR" altLang="en-US" kern="0" dirty="0">
                <a:solidFill>
                  <a:srgbClr val="000000"/>
                </a:solidFill>
                <a:latin typeface="+mn-ea"/>
              </a:rPr>
              <a:t>기준 포지션별 </a:t>
            </a:r>
            <a:r>
              <a:rPr lang="en-US" altLang="ko-KR" kern="0" dirty="0">
                <a:solidFill>
                  <a:srgbClr val="000000"/>
                </a:solidFill>
                <a:latin typeface="+mn-ea"/>
              </a:rPr>
              <a:t>TOP 5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AF5BB69-FBDE-7985-DFA1-23A563C19EE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/>
              <a:t>2-2.</a:t>
            </a:r>
            <a:r>
              <a:rPr lang="ko-KR" altLang="en-US" sz="4000" b="1" dirty="0"/>
              <a:t> </a:t>
            </a:r>
            <a:r>
              <a:rPr lang="ko-KR" altLang="en-US" sz="4000" b="1" dirty="0">
                <a:latin typeface="Gigi" panose="04040504061007020D02" pitchFamily="82" charset="0"/>
              </a:rPr>
              <a:t>데이터</a:t>
            </a:r>
            <a:r>
              <a:rPr lang="ko-KR" altLang="en-US" sz="4000" b="1" dirty="0"/>
              <a:t> </a:t>
            </a:r>
            <a:r>
              <a:rPr lang="ko-KR" altLang="en-US" sz="4000" b="1" dirty="0" err="1"/>
              <a:t>전처리</a:t>
            </a:r>
            <a:endParaRPr lang="ko-KR" altLang="en-US" sz="40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AA22E49-0525-E130-D4EB-6E6CB8B09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53" y="2609642"/>
            <a:ext cx="2636748" cy="32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16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5D5B80D-8161-824F-BB21-4EAD13472517}"/>
              </a:ext>
            </a:extLst>
          </p:cNvPr>
          <p:cNvSpPr txBox="1"/>
          <p:nvPr/>
        </p:nvSpPr>
        <p:spPr>
          <a:xfrm>
            <a:off x="838200" y="1363307"/>
            <a:ext cx="7837375" cy="47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OPS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 기준 포지션별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TOP 5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AF5BB69-FBDE-7985-DFA1-23A563C19EE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/>
              <a:t>2-2.</a:t>
            </a:r>
            <a:r>
              <a:rPr lang="ko-KR" altLang="en-US" sz="4000" b="1" dirty="0"/>
              <a:t> </a:t>
            </a:r>
            <a:r>
              <a:rPr lang="ko-KR" altLang="en-US" sz="4000" b="1" dirty="0">
                <a:latin typeface="Gigi" panose="04040504061007020D02" pitchFamily="82" charset="0"/>
              </a:rPr>
              <a:t>데이터</a:t>
            </a:r>
            <a:r>
              <a:rPr lang="ko-KR" altLang="en-US" sz="4000" b="1" dirty="0"/>
              <a:t> </a:t>
            </a:r>
            <a:r>
              <a:rPr lang="ko-KR" altLang="en-US" sz="4000" b="1" dirty="0" err="1"/>
              <a:t>전처리</a:t>
            </a:r>
            <a:endParaRPr lang="ko-KR" altLang="en-US" sz="4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03611-6310-9C5E-585E-7040124D938A}"/>
              </a:ext>
            </a:extLst>
          </p:cNvPr>
          <p:cNvSpPr txBox="1"/>
          <p:nvPr/>
        </p:nvSpPr>
        <p:spPr>
          <a:xfrm>
            <a:off x="4461469" y="1510429"/>
            <a:ext cx="5800358" cy="3837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4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n-ea"/>
              </a:rPr>
              <a:t>OPS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기준 포지션별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n-ea"/>
              </a:rPr>
              <a:t>TOP 5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n-ea"/>
              </a:rPr>
              <a:t>1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루 박병호 러프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로맥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강백호 박병호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n-ea"/>
              </a:rPr>
              <a:t>2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루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안치홍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송성문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박민우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번즈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정근우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n-ea"/>
              </a:rPr>
              <a:t>3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루 최정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최정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노시환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최정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최정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포수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양의지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양의지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양의지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이재원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양의지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중견수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이정후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로하스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이정후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로하스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렉스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지명타자 최형우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양의지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나성범 이대호 최주환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좌익수 김재환 김현수 전준우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피렐라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최형우 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우익수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로하스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한유섬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터커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손아섭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호잉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유격수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김하성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김하성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n-ea"/>
              </a:rPr>
              <a:t> 김재호 노진혁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n-ea"/>
              </a:rPr>
              <a:t>김하성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067E179-9920-9E4F-6989-72CA7F406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34" y="2020631"/>
            <a:ext cx="3000271" cy="36103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007DFE-7C05-FFF7-B8EF-0579BA5E1212}"/>
              </a:ext>
            </a:extLst>
          </p:cNvPr>
          <p:cNvSpPr txBox="1"/>
          <p:nvPr/>
        </p:nvSpPr>
        <p:spPr>
          <a:xfrm>
            <a:off x="4226981" y="5631000"/>
            <a:ext cx="6269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타격 부분  </a:t>
            </a:r>
            <a:r>
              <a:rPr lang="en-US" altLang="ko-KR" dirty="0"/>
              <a:t>- AVG / OPS / WAR / </a:t>
            </a:r>
            <a:r>
              <a:rPr lang="en-US" altLang="ko-KR" dirty="0" err="1"/>
              <a:t>wRC</a:t>
            </a:r>
            <a:r>
              <a:rPr lang="en-US" altLang="ko-KR" dirty="0"/>
              <a:t> / </a:t>
            </a:r>
            <a:r>
              <a:rPr lang="ko-KR" altLang="en-US" dirty="0"/>
              <a:t>득점 </a:t>
            </a:r>
            <a:r>
              <a:rPr lang="en-US" altLang="ko-KR" dirty="0"/>
              <a:t>/ </a:t>
            </a:r>
            <a:r>
              <a:rPr lang="ko-KR" altLang="en-US" dirty="0"/>
              <a:t>도루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04E581-E71C-3A41-D347-CBBB5D0080FA}"/>
              </a:ext>
            </a:extLst>
          </p:cNvPr>
          <p:cNvSpPr txBox="1"/>
          <p:nvPr/>
        </p:nvSpPr>
        <p:spPr>
          <a:xfrm>
            <a:off x="4226981" y="6000332"/>
            <a:ext cx="6269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수비 부분  </a:t>
            </a:r>
            <a:r>
              <a:rPr lang="en-US" altLang="ko-KR" dirty="0"/>
              <a:t>- </a:t>
            </a:r>
            <a:r>
              <a:rPr lang="ko-KR" altLang="en-US" dirty="0"/>
              <a:t>실책</a:t>
            </a:r>
            <a:r>
              <a:rPr lang="en-US" altLang="ko-KR" dirty="0"/>
              <a:t> / </a:t>
            </a:r>
            <a:r>
              <a:rPr lang="ko-KR" altLang="en-US" dirty="0"/>
              <a:t>수비율 </a:t>
            </a:r>
            <a:r>
              <a:rPr lang="en-US" altLang="ko-KR" dirty="0"/>
              <a:t>/ RNG/ ARM/ E+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A2522C-88CE-C46F-5523-0DF7EF26DA05}"/>
              </a:ext>
            </a:extLst>
          </p:cNvPr>
          <p:cNvSpPr txBox="1"/>
          <p:nvPr/>
        </p:nvSpPr>
        <p:spPr>
          <a:xfrm>
            <a:off x="4226981" y="6369664"/>
            <a:ext cx="6269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투수 부분  </a:t>
            </a:r>
            <a:r>
              <a:rPr lang="en-US" altLang="ko-KR" dirty="0"/>
              <a:t>- </a:t>
            </a:r>
            <a:r>
              <a:rPr lang="ko-KR" altLang="en-US" dirty="0"/>
              <a:t>승</a:t>
            </a:r>
            <a:r>
              <a:rPr lang="en-US" altLang="ko-KR" dirty="0"/>
              <a:t> / </a:t>
            </a:r>
            <a:r>
              <a:rPr lang="ko-KR" altLang="en-US" dirty="0"/>
              <a:t>패</a:t>
            </a:r>
            <a:r>
              <a:rPr lang="en-US" altLang="ko-KR" dirty="0"/>
              <a:t> / ERA+ / WPA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064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558D10-AF10-827D-A04C-353216897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947" y="2766218"/>
            <a:ext cx="11022106" cy="1325563"/>
          </a:xfrm>
        </p:spPr>
        <p:txBody>
          <a:bodyPr>
            <a:noAutofit/>
          </a:bodyPr>
          <a:lstStyle/>
          <a:p>
            <a:pPr algn="ctr"/>
            <a:r>
              <a:rPr lang="en-US" altLang="ko-KR" sz="6000" b="1" dirty="0"/>
              <a:t>3. </a:t>
            </a:r>
            <a:r>
              <a:rPr lang="ko-KR" altLang="en-US" sz="6000" b="1" dirty="0"/>
              <a:t>시각화 및 분석 결과</a:t>
            </a:r>
          </a:p>
        </p:txBody>
      </p:sp>
    </p:spTree>
    <p:extLst>
      <p:ext uri="{BB962C8B-B14F-4D97-AF65-F5344CB8AC3E}">
        <p14:creationId xmlns:p14="http://schemas.microsoft.com/office/powerpoint/2010/main" val="23250521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BCB2388-8B9F-E31E-2680-743500B7FE7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/>
              <a:t>3-1. </a:t>
            </a:r>
            <a:r>
              <a:rPr lang="ko-KR" altLang="en-US" sz="4000" b="1" dirty="0"/>
              <a:t>시각화</a:t>
            </a:r>
            <a:r>
              <a:rPr lang="en-US" altLang="ko-KR" sz="4000" b="1" dirty="0"/>
              <a:t>(shinny)-</a:t>
            </a:r>
            <a:r>
              <a:rPr lang="ko-KR" altLang="en-US" sz="4000" b="1" dirty="0"/>
              <a:t>선수 능력치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BCC3DE-A217-948B-E874-616006F92A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86" r="32656"/>
          <a:stretch/>
        </p:blipFill>
        <p:spPr>
          <a:xfrm>
            <a:off x="219075" y="1690688"/>
            <a:ext cx="4029075" cy="47212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A46F890-22BC-EC6C-614A-02572A9943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4067"/>
          <a:stretch/>
        </p:blipFill>
        <p:spPr>
          <a:xfrm>
            <a:off x="4086225" y="1609725"/>
            <a:ext cx="4029076" cy="480218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2BC5FA1-3820-E23E-3AFA-87BFEE90CAF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7" r="38090"/>
          <a:stretch/>
        </p:blipFill>
        <p:spPr>
          <a:xfrm>
            <a:off x="7953376" y="1609725"/>
            <a:ext cx="4029075" cy="488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1336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BCB2388-8B9F-E31E-2680-743500B7FE7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/>
              <a:t>3-1. </a:t>
            </a:r>
            <a:r>
              <a:rPr lang="ko-KR" altLang="en-US" sz="4000" b="1" dirty="0"/>
              <a:t>시각화</a:t>
            </a:r>
            <a:r>
              <a:rPr lang="en-US" altLang="ko-KR" sz="4000" b="1" dirty="0"/>
              <a:t>(shinny)-</a:t>
            </a:r>
            <a:r>
              <a:rPr lang="ko-KR" altLang="en-US" sz="4000" b="1" dirty="0"/>
              <a:t>팀 경기성향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1493B13-21C6-6F2A-C206-CCCDBF813A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9" r="892"/>
          <a:stretch/>
        </p:blipFill>
        <p:spPr>
          <a:xfrm>
            <a:off x="265518" y="1881345"/>
            <a:ext cx="3584073" cy="219184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C747C04-F1AE-8C9F-DD5B-8B74616DA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7174" y="1881346"/>
            <a:ext cx="3657181" cy="219184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BF94B8A-E4BC-4397-CF84-C4560AB94CC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59"/>
          <a:stretch/>
        </p:blipFill>
        <p:spPr>
          <a:xfrm>
            <a:off x="8088500" y="1871821"/>
            <a:ext cx="3858080" cy="22005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9B09354-F160-5614-DC59-DE9D21E1BDC8}"/>
              </a:ext>
            </a:extLst>
          </p:cNvPr>
          <p:cNvSpPr txBox="1"/>
          <p:nvPr/>
        </p:nvSpPr>
        <p:spPr>
          <a:xfrm>
            <a:off x="386499" y="1385741"/>
            <a:ext cx="669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Ex)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008B91-6781-3284-82BD-18B042185FD9}"/>
              </a:ext>
            </a:extLst>
          </p:cNvPr>
          <p:cNvSpPr txBox="1"/>
          <p:nvPr/>
        </p:nvSpPr>
        <p:spPr>
          <a:xfrm>
            <a:off x="1726676" y="4570585"/>
            <a:ext cx="87386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변수 별 공격 </a:t>
            </a:r>
            <a:r>
              <a:rPr lang="en-US" altLang="ko-KR" dirty="0"/>
              <a:t>/ </a:t>
            </a:r>
            <a:r>
              <a:rPr lang="ko-KR" altLang="en-US" dirty="0"/>
              <a:t>수비 </a:t>
            </a:r>
            <a:r>
              <a:rPr lang="en-US" altLang="ko-KR" dirty="0"/>
              <a:t>/ </a:t>
            </a:r>
            <a:r>
              <a:rPr lang="ko-KR" altLang="en-US" dirty="0"/>
              <a:t>투수 시각화를 통해 분석하여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chemeClr val="accent2"/>
                </a:solidFill>
              </a:rPr>
              <a:t>팀 성향을 구분</a:t>
            </a:r>
            <a:endParaRPr lang="en-US" altLang="ko-KR" dirty="0">
              <a:solidFill>
                <a:schemeClr val="accent2"/>
              </a:solidFill>
            </a:endParaRPr>
          </a:p>
          <a:p>
            <a:endParaRPr lang="en-US" altLang="ko-KR" dirty="0"/>
          </a:p>
          <a:p>
            <a:r>
              <a:rPr lang="en-US" altLang="ko-KR" b="1" dirty="0"/>
              <a:t>-&gt;</a:t>
            </a:r>
            <a:r>
              <a:rPr lang="ko-KR" altLang="en-US" b="1" dirty="0"/>
              <a:t>공격 </a:t>
            </a:r>
            <a:r>
              <a:rPr lang="en-US" altLang="ko-KR" b="1" dirty="0"/>
              <a:t>- </a:t>
            </a:r>
            <a:r>
              <a:rPr lang="ko-KR" altLang="en-US" b="1" dirty="0"/>
              <a:t>키움 </a:t>
            </a:r>
            <a:r>
              <a:rPr lang="en-US" altLang="ko-KR" b="1" dirty="0"/>
              <a:t>LG SSG NC KIA </a:t>
            </a:r>
            <a:r>
              <a:rPr lang="ko-KR" altLang="en-US" b="1" dirty="0"/>
              <a:t>삼성</a:t>
            </a:r>
          </a:p>
          <a:p>
            <a:endParaRPr lang="ko-KR" altLang="en-US" b="1" dirty="0"/>
          </a:p>
          <a:p>
            <a:r>
              <a:rPr lang="ko-KR" altLang="en-US" b="1" dirty="0"/>
              <a:t>   수비 </a:t>
            </a:r>
            <a:r>
              <a:rPr lang="en-US" altLang="ko-KR" b="1" dirty="0"/>
              <a:t>- </a:t>
            </a:r>
            <a:r>
              <a:rPr lang="ko-KR" altLang="en-US" b="1" dirty="0"/>
              <a:t>두산 </a:t>
            </a:r>
            <a:r>
              <a:rPr lang="en-US" altLang="ko-KR" b="1" dirty="0"/>
              <a:t>LG SSG </a:t>
            </a:r>
            <a:r>
              <a:rPr lang="ko-KR" altLang="en-US" b="1" dirty="0"/>
              <a:t>한화 </a:t>
            </a:r>
            <a:r>
              <a:rPr lang="en-US" altLang="ko-KR" b="1" dirty="0"/>
              <a:t>KT </a:t>
            </a:r>
            <a:r>
              <a:rPr lang="ko-KR" altLang="en-US" b="1" dirty="0"/>
              <a:t>롯데</a:t>
            </a:r>
            <a:endParaRPr lang="en-US" altLang="ko-KR" b="1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61458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7BC445-2BD7-ED96-DBF5-FBDDF1A60C30}"/>
              </a:ext>
            </a:extLst>
          </p:cNvPr>
          <p:cNvSpPr txBox="1"/>
          <p:nvPr/>
        </p:nvSpPr>
        <p:spPr>
          <a:xfrm>
            <a:off x="550434" y="1690688"/>
            <a:ext cx="5766098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#</a:t>
            </a:r>
            <a:r>
              <a:rPr lang="ko-KR" altLang="en-US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연고지 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– </a:t>
            </a:r>
            <a:r>
              <a:rPr lang="ko-KR" altLang="en-US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연고지에 해당되는 팀이 있으면 그 팀에 점수를 부여한다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.</a:t>
            </a:r>
            <a:endParaRPr lang="ko-KR" altLang="en-US" sz="1400" b="1" dirty="0">
              <a:solidFill>
                <a:srgbClr val="FF0000"/>
              </a:solidFill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area = input("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연고지가 </a:t>
            </a:r>
            <a:r>
              <a:rPr lang="ko-KR" altLang="en-US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어디신가요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? [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서울 대전 수원 광주 대구 부산 인천 창원 없음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] :")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if area == "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서울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":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Team_score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["LG"] += 5</a:t>
            </a:r>
          </a:p>
          <a:p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Team_score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["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두산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"]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 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+= 5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Team_score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["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키움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"]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 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+= 5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b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</a:b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elif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area == "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대전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":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Team_score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["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한화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"]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 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+= 5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b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</a:b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elif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area == "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수원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":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Team_score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["KT"] += 5</a:t>
            </a:r>
          </a:p>
          <a:p>
            <a:b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</a:b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elif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area == "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광주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":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Team_score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["KIA"] += 5</a:t>
            </a:r>
          </a:p>
          <a:p>
            <a:b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</a:b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elif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area == "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대구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":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Team_score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["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삼성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"]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 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+= 5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b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</a:b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elif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area == "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부산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":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Team_score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["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롯데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"]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 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+= 5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b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</a:b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elif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area == "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인천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":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Team_score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["SSG"] += 5</a:t>
            </a:r>
          </a:p>
          <a:p>
            <a:b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</a:b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elif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area == "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창원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":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Team_score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["NC"] += 5</a:t>
            </a:r>
          </a:p>
          <a:p>
            <a:endParaRPr lang="ko-KR" altLang="en-US" sz="1200" dirty="0">
              <a:latin typeface="+mj-lt"/>
              <a:ea typeface="나눔스퀘어라운드OTF Bold" panose="020B060000010101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DF9030-0F83-B08D-FCF5-105C8D976A1A}"/>
              </a:ext>
            </a:extLst>
          </p:cNvPr>
          <p:cNvSpPr txBox="1"/>
          <p:nvPr/>
        </p:nvSpPr>
        <p:spPr>
          <a:xfrm>
            <a:off x="6316531" y="1690688"/>
            <a:ext cx="5593977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#</a:t>
            </a:r>
            <a:r>
              <a:rPr lang="ko-KR" altLang="en-US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우승팀 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- </a:t>
            </a:r>
            <a:r>
              <a:rPr lang="ko-KR" altLang="en-US" sz="1400" b="1" dirty="0">
                <a:solidFill>
                  <a:srgbClr val="FF0000"/>
                </a:solidFill>
                <a:latin typeface="+mj-lt"/>
                <a:ea typeface="나눔스퀘어라운드OTF Bold" panose="020B0600000101010101" pitchFamily="34" charset="-127"/>
              </a:rPr>
              <a:t>최근 </a:t>
            </a:r>
            <a:r>
              <a:rPr lang="en-US" altLang="ko-KR" sz="1400" b="1" dirty="0">
                <a:solidFill>
                  <a:srgbClr val="FF0000"/>
                </a:solidFill>
                <a:latin typeface="+mj-lt"/>
                <a:ea typeface="나눔스퀘어라운드OTF Bold" panose="020B0600000101010101" pitchFamily="34" charset="-127"/>
              </a:rPr>
              <a:t>n</a:t>
            </a:r>
            <a:r>
              <a:rPr lang="ko-KR" altLang="en-US" sz="1400" b="1" dirty="0">
                <a:solidFill>
                  <a:srgbClr val="FF0000"/>
                </a:solidFill>
                <a:latin typeface="+mj-lt"/>
                <a:ea typeface="나눔스퀘어라운드OTF Bold" panose="020B0600000101010101" pitchFamily="34" charset="-127"/>
              </a:rPr>
              <a:t>년간 우승횟수가 많은 팀에게 점수를 부여한다</a:t>
            </a:r>
            <a:r>
              <a:rPr lang="en-US" altLang="ko-KR" sz="1400" b="1" dirty="0">
                <a:solidFill>
                  <a:srgbClr val="FF0000"/>
                </a:solidFill>
                <a:latin typeface="+mj-lt"/>
                <a:ea typeface="나눔스퀘어라운드OTF Bold" panose="020B0600000101010101" pitchFamily="34" charset="-127"/>
              </a:rPr>
              <a:t>.</a:t>
            </a:r>
            <a:endParaRPr lang="ko-KR" altLang="en-US" sz="1400" b="1" dirty="0">
              <a:solidFill>
                <a:srgbClr val="FF0000"/>
              </a:solidFill>
              <a:latin typeface="+mj-lt"/>
              <a:ea typeface="나눔스퀘어라운드OTF Bold" panose="020B0600000101010101" pitchFamily="34" charset="-127"/>
            </a:endParaRPr>
          </a:p>
          <a:p>
            <a:endParaRPr lang="ko-KR" altLang="en-US" sz="120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winner = int(input("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원하는 년도를 설정해주세요 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(1982 ~ 2022):"))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b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</a:b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Team_win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=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Team_win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Team_win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['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년도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']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 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&gt;= winner]</a:t>
            </a:r>
          </a:p>
          <a:p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Team_win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=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Team_win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['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팀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'].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value_counts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().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reset_index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()</a:t>
            </a:r>
          </a:p>
          <a:p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if 1 ==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len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(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Team_win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['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팀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'].unique()):</a:t>
            </a:r>
          </a:p>
          <a:p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for x in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Team_win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['index'].unique():</a:t>
            </a:r>
          </a:p>
          <a:p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 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Team_score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[x] += 5</a:t>
            </a:r>
          </a:p>
          <a:p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else:</a:t>
            </a:r>
          </a:p>
          <a:p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Team_score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Team_win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['index'][0]] += 5</a:t>
            </a:r>
          </a:p>
          <a:p>
            <a:endParaRPr lang="ko-KR" altLang="en-US" sz="1200" dirty="0">
              <a:latin typeface="+mj-lt"/>
              <a:ea typeface="나눔스퀘어라운드OTF Bold" panose="020B0600000101010101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75B3DBF-6906-1CBA-0A36-4C4B87CE0C9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/>
              <a:t>3-2. </a:t>
            </a:r>
            <a:r>
              <a:rPr lang="ko-KR" altLang="en-US" sz="4000" b="1" dirty="0"/>
              <a:t>활용 분석</a:t>
            </a:r>
          </a:p>
        </p:txBody>
      </p:sp>
    </p:spTree>
    <p:extLst>
      <p:ext uri="{BB962C8B-B14F-4D97-AF65-F5344CB8AC3E}">
        <p14:creationId xmlns:p14="http://schemas.microsoft.com/office/powerpoint/2010/main" val="23192721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DF3B1B-E0E0-7E2A-76DA-31C846851859}"/>
              </a:ext>
            </a:extLst>
          </p:cNvPr>
          <p:cNvSpPr txBox="1"/>
          <p:nvPr/>
        </p:nvSpPr>
        <p:spPr>
          <a:xfrm>
            <a:off x="136265" y="1873623"/>
            <a:ext cx="5540187" cy="407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#</a:t>
            </a:r>
            <a:r>
              <a:rPr lang="ko-KR" altLang="en-US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선수 능력치 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– </a:t>
            </a:r>
            <a:r>
              <a:rPr lang="ko-KR" altLang="en-US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원하는 포지션 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/ </a:t>
            </a:r>
            <a:r>
              <a:rPr lang="ko-KR" altLang="en-US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유형 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/ </a:t>
            </a:r>
            <a:r>
              <a:rPr lang="ko-KR" altLang="en-US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능력치 에 맞는 선수들이 해당되는 팀에 점수 부여</a:t>
            </a:r>
          </a:p>
          <a:p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position = input("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원하는 포지션 정해주세요 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[1B / 2B / 3B / SS / RF / CF / LF / C / DH / P]:")</a:t>
            </a:r>
          </a:p>
          <a:p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if position != "P":</a:t>
            </a:r>
          </a:p>
          <a:p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p_type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= input("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선수의 유형을 선택해주세요 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타격 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/ 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수비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] :")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if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p_type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== "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타격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":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  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stats = input("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원하는 능력치를 선택해주세요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[avg / ops / war /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wrc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/ score / run] :")</a:t>
            </a:r>
          </a:p>
          <a:p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  data =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globals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()['top_{}_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by_position'.format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(stats)]</a:t>
            </a:r>
          </a:p>
          <a:p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  for x in data[data['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포지션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']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 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== position]['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팀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']: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   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Team_score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[x] += 5</a:t>
            </a:r>
          </a:p>
          <a:p>
            <a:b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</a:b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elif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p_type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== "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수비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":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  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stats = input("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원하는 능력치를 선택해주세요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[error /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defence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/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rng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/ arm / E]:")</a:t>
            </a:r>
          </a:p>
          <a:p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  data =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globals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()['top_{}_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by_position'.format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(stats)]</a:t>
            </a:r>
          </a:p>
          <a:p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  for x in data[data['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포지션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']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 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== position]['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팀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']: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   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Team_score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[x] += 5</a:t>
            </a:r>
          </a:p>
          <a:p>
            <a:b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</a:b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elif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position == "P":</a:t>
            </a:r>
          </a:p>
          <a:p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stats = input("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원하는 능력치를 선택해주세요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[win / lose / era /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wpa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] :")</a:t>
            </a:r>
          </a:p>
          <a:p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data =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globals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()['top_{}_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by_season'.format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(stats)]</a:t>
            </a:r>
          </a:p>
          <a:p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for x in data['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팀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']: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 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Team_score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[x] += 5</a:t>
            </a:r>
          </a:p>
          <a:p>
            <a:endParaRPr lang="ko-KR" altLang="en-US" sz="1000" dirty="0">
              <a:latin typeface="+mj-lt"/>
              <a:ea typeface="나눔스퀘어라운드OTF Bold" panose="020B0600000101010101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81F811-50B6-37AC-20AC-6FEAFA1BD117}"/>
              </a:ext>
            </a:extLst>
          </p:cNvPr>
          <p:cNvSpPr txBox="1"/>
          <p:nvPr/>
        </p:nvSpPr>
        <p:spPr>
          <a:xfrm>
            <a:off x="6087484" y="1873623"/>
            <a:ext cx="6018454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#</a:t>
            </a:r>
            <a:r>
              <a:rPr lang="ko-KR" altLang="en-US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선수 인기 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– 2022~2023 </a:t>
            </a:r>
            <a:r>
              <a:rPr lang="ko-KR" altLang="en-US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년도 사이에 인기있는 선수들 리스트 중에서 관심있는 선수가 해당되는 팀에 점수 부여</a:t>
            </a:r>
          </a:p>
          <a:p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print("22~23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년도 인기 선수 리스트 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: [</a:t>
            </a:r>
            <a:r>
              <a:rPr lang="ko-KR" altLang="en-US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이정후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 추신수 김광현 이대호 양현종 </a:t>
            </a:r>
            <a:r>
              <a:rPr lang="ko-KR" altLang="en-US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양의지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 </a:t>
            </a:r>
            <a:r>
              <a:rPr lang="ko-KR" altLang="en-US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구자욱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 나성범 강백호 최정 김현수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]")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famous = input("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관심있는 선수 골라주세요 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: ")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if famous == '</a:t>
            </a:r>
            <a:r>
              <a:rPr lang="ko-KR" altLang="en-US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이정후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':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Team_score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['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키움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']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 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+= 5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b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</a:b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elif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famous in ['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추신수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','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김광현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','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최정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']: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Team_score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['SSG'] += 5</a:t>
            </a:r>
          </a:p>
          <a:p>
            <a:b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</a:b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elif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famous == '</a:t>
            </a:r>
            <a:r>
              <a:rPr lang="ko-KR" altLang="en-US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양의지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':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Team_score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['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두산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']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 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+= 5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b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</a:b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elif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famous == '</a:t>
            </a:r>
            <a:r>
              <a:rPr lang="ko-KR" altLang="en-US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구자욱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':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Team_score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['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삼성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']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 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+= 5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b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</a:b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elif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famous == '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강백호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':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Team_score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['KT'] += 5</a:t>
            </a:r>
          </a:p>
          <a:p>
            <a:b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</a:b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elif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famous == '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김현수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':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Team_score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['LG'] += 5</a:t>
            </a:r>
          </a:p>
          <a:p>
            <a:endParaRPr lang="ko-KR" altLang="en-US" sz="1000" dirty="0">
              <a:latin typeface="+mj-lt"/>
              <a:ea typeface="나눔스퀘어라운드OTF Bold" panose="020B0600000101010101" pitchFamily="34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61EB1C7B-8BC6-74B3-D912-EFA627E8859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/>
              <a:t>3-2. </a:t>
            </a:r>
            <a:r>
              <a:rPr lang="ko-KR" altLang="en-US" sz="4000" b="1" dirty="0"/>
              <a:t>활용 분석</a:t>
            </a:r>
          </a:p>
        </p:txBody>
      </p:sp>
    </p:spTree>
    <p:extLst>
      <p:ext uri="{BB962C8B-B14F-4D97-AF65-F5344CB8AC3E}">
        <p14:creationId xmlns:p14="http://schemas.microsoft.com/office/powerpoint/2010/main" val="25951611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930471-3C2A-CE3E-4979-D6EF0348426D}"/>
              </a:ext>
            </a:extLst>
          </p:cNvPr>
          <p:cNvSpPr txBox="1"/>
          <p:nvPr/>
        </p:nvSpPr>
        <p:spPr>
          <a:xfrm>
            <a:off x="838200" y="1891723"/>
            <a:ext cx="56285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effectLst/>
                <a:latin typeface="+mn-ea"/>
              </a:rPr>
              <a:t>#</a:t>
            </a:r>
            <a:r>
              <a:rPr lang="ko-KR" altLang="en-US" sz="1400" b="1" dirty="0">
                <a:solidFill>
                  <a:srgbClr val="FF0000"/>
                </a:solidFill>
                <a:effectLst/>
                <a:latin typeface="+mn-ea"/>
              </a:rPr>
              <a:t>팀 성향 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+mn-ea"/>
              </a:rPr>
              <a:t>–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공격이 강한 팀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/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수비가 강한 팀에 속하는 팀들에게 점수 부여</a:t>
            </a:r>
            <a:endParaRPr lang="ko-KR" altLang="en-US" sz="1400" b="1" dirty="0">
              <a:solidFill>
                <a:srgbClr val="FF0000"/>
              </a:solidFill>
              <a:effectLst/>
              <a:latin typeface="+mn-ea"/>
            </a:endParaRPr>
          </a:p>
          <a:p>
            <a:r>
              <a:rPr lang="en-US" altLang="ko-KR" sz="1050" b="0" dirty="0">
                <a:effectLst/>
                <a:latin typeface="+mn-ea"/>
              </a:rPr>
              <a:t>tendency = input("</a:t>
            </a:r>
            <a:r>
              <a:rPr lang="ko-KR" altLang="en-US" sz="1050" b="0" dirty="0">
                <a:effectLst/>
                <a:latin typeface="+mn-ea"/>
              </a:rPr>
              <a:t>팀 유형을 선택해 주세요 </a:t>
            </a:r>
            <a:r>
              <a:rPr lang="en-US" altLang="ko-KR" sz="1050" b="0" dirty="0">
                <a:effectLst/>
                <a:latin typeface="+mn-ea"/>
              </a:rPr>
              <a:t>[</a:t>
            </a:r>
            <a:r>
              <a:rPr lang="ko-KR" altLang="en-US" sz="1050" b="0" dirty="0">
                <a:effectLst/>
                <a:latin typeface="+mn-ea"/>
              </a:rPr>
              <a:t>공격</a:t>
            </a:r>
            <a:r>
              <a:rPr lang="en-US" altLang="ko-KR" sz="1050" b="0" dirty="0">
                <a:effectLst/>
                <a:latin typeface="+mn-ea"/>
              </a:rPr>
              <a:t>/</a:t>
            </a:r>
            <a:r>
              <a:rPr lang="ko-KR" altLang="en-US" sz="1050" b="0" dirty="0">
                <a:effectLst/>
                <a:latin typeface="+mn-ea"/>
              </a:rPr>
              <a:t>수비</a:t>
            </a:r>
            <a:r>
              <a:rPr lang="en-US" altLang="ko-KR" sz="1050" b="0" dirty="0">
                <a:effectLst/>
                <a:latin typeface="+mn-ea"/>
              </a:rPr>
              <a:t>] :")</a:t>
            </a:r>
            <a:endParaRPr lang="ko-KR" altLang="en-US" sz="1050" b="0" dirty="0">
              <a:effectLst/>
              <a:latin typeface="+mn-ea"/>
            </a:endParaRPr>
          </a:p>
          <a:p>
            <a:r>
              <a:rPr lang="en-US" altLang="ko-KR" sz="1050" b="0" dirty="0">
                <a:effectLst/>
                <a:latin typeface="+mn-ea"/>
              </a:rPr>
              <a:t>if tendency == "</a:t>
            </a:r>
            <a:r>
              <a:rPr lang="ko-KR" altLang="en-US" sz="1050" b="0" dirty="0">
                <a:effectLst/>
                <a:latin typeface="+mn-ea"/>
              </a:rPr>
              <a:t>공격</a:t>
            </a:r>
            <a:r>
              <a:rPr lang="en-US" altLang="ko-KR" sz="1050" b="0" dirty="0">
                <a:effectLst/>
                <a:latin typeface="+mn-ea"/>
              </a:rPr>
              <a:t>":</a:t>
            </a:r>
            <a:endParaRPr lang="ko-KR" altLang="en-US" sz="1050" b="0" dirty="0">
              <a:effectLst/>
              <a:latin typeface="+mn-ea"/>
            </a:endParaRPr>
          </a:p>
          <a:p>
            <a:r>
              <a:rPr lang="ko-KR" altLang="en-US" sz="1050" b="0" dirty="0">
                <a:effectLst/>
                <a:latin typeface="+mn-ea"/>
              </a:rPr>
              <a:t>  </a:t>
            </a:r>
            <a:r>
              <a:rPr lang="en-US" altLang="ko-KR" sz="1050" b="0" dirty="0">
                <a:effectLst/>
                <a:latin typeface="+mn-ea"/>
              </a:rPr>
              <a:t>for x in ["</a:t>
            </a:r>
            <a:r>
              <a:rPr lang="ko-KR" altLang="en-US" sz="1050" b="0" dirty="0">
                <a:effectLst/>
                <a:latin typeface="+mn-ea"/>
              </a:rPr>
              <a:t>키움</a:t>
            </a:r>
            <a:r>
              <a:rPr lang="en-US" altLang="ko-KR" sz="1050" b="0" dirty="0">
                <a:effectLst/>
                <a:latin typeface="+mn-ea"/>
              </a:rPr>
              <a:t>","LG","SSG","NC","KIA","</a:t>
            </a:r>
            <a:r>
              <a:rPr lang="ko-KR" altLang="en-US" sz="1050" b="0" dirty="0">
                <a:effectLst/>
                <a:latin typeface="+mn-ea"/>
              </a:rPr>
              <a:t>삼성</a:t>
            </a:r>
            <a:r>
              <a:rPr lang="en-US" altLang="ko-KR" sz="1050" b="0" dirty="0">
                <a:effectLst/>
                <a:latin typeface="+mn-ea"/>
              </a:rPr>
              <a:t>"]:</a:t>
            </a:r>
            <a:endParaRPr lang="ko-KR" altLang="en-US" sz="1050" b="0" dirty="0">
              <a:effectLst/>
              <a:latin typeface="+mn-ea"/>
            </a:endParaRPr>
          </a:p>
          <a:p>
            <a:r>
              <a:rPr lang="ko-KR" altLang="en-US" sz="1050" b="0" dirty="0">
                <a:effectLst/>
                <a:latin typeface="+mn-ea"/>
              </a:rPr>
              <a:t>    </a:t>
            </a:r>
            <a:r>
              <a:rPr lang="en-US" altLang="ko-KR" sz="1050" b="0" dirty="0" err="1">
                <a:effectLst/>
                <a:latin typeface="+mn-ea"/>
              </a:rPr>
              <a:t>Team_score</a:t>
            </a:r>
            <a:r>
              <a:rPr lang="en-US" altLang="ko-KR" sz="1050" b="0" dirty="0">
                <a:effectLst/>
                <a:latin typeface="+mn-ea"/>
              </a:rPr>
              <a:t>[x] += 5</a:t>
            </a:r>
          </a:p>
          <a:p>
            <a:br>
              <a:rPr lang="en-US" altLang="ko-KR" sz="1050" b="0" dirty="0">
                <a:effectLst/>
                <a:latin typeface="+mn-ea"/>
              </a:rPr>
            </a:br>
            <a:r>
              <a:rPr lang="en-US" altLang="ko-KR" sz="1050" b="0" dirty="0" err="1">
                <a:effectLst/>
                <a:latin typeface="+mn-ea"/>
              </a:rPr>
              <a:t>elif</a:t>
            </a:r>
            <a:r>
              <a:rPr lang="en-US" altLang="ko-KR" sz="1050" b="0" dirty="0">
                <a:effectLst/>
                <a:latin typeface="+mn-ea"/>
              </a:rPr>
              <a:t> tendency == "</a:t>
            </a:r>
            <a:r>
              <a:rPr lang="ko-KR" altLang="en-US" sz="1050" b="0" dirty="0">
                <a:effectLst/>
                <a:latin typeface="+mn-ea"/>
              </a:rPr>
              <a:t>수비</a:t>
            </a:r>
            <a:r>
              <a:rPr lang="en-US" altLang="ko-KR" sz="1050" b="0" dirty="0">
                <a:effectLst/>
                <a:latin typeface="+mn-ea"/>
              </a:rPr>
              <a:t>":</a:t>
            </a:r>
            <a:endParaRPr lang="ko-KR" altLang="en-US" sz="1050" b="0" dirty="0">
              <a:effectLst/>
              <a:latin typeface="+mn-ea"/>
            </a:endParaRPr>
          </a:p>
          <a:p>
            <a:r>
              <a:rPr lang="ko-KR" altLang="en-US" sz="1050" b="0" dirty="0">
                <a:effectLst/>
                <a:latin typeface="+mn-ea"/>
              </a:rPr>
              <a:t>  </a:t>
            </a:r>
            <a:r>
              <a:rPr lang="en-US" altLang="ko-KR" sz="1050" b="0" dirty="0">
                <a:effectLst/>
                <a:latin typeface="+mn-ea"/>
              </a:rPr>
              <a:t>for x in ["</a:t>
            </a:r>
            <a:r>
              <a:rPr lang="ko-KR" altLang="en-US" sz="1050" b="0" dirty="0">
                <a:effectLst/>
                <a:latin typeface="+mn-ea"/>
              </a:rPr>
              <a:t>키움</a:t>
            </a:r>
            <a:r>
              <a:rPr lang="en-US" altLang="ko-KR" sz="1050" b="0" dirty="0">
                <a:effectLst/>
                <a:latin typeface="+mn-ea"/>
              </a:rPr>
              <a:t>","LG","SSG","NC","KIA","</a:t>
            </a:r>
            <a:r>
              <a:rPr lang="ko-KR" altLang="en-US" sz="1050" b="0" dirty="0">
                <a:effectLst/>
                <a:latin typeface="+mn-ea"/>
              </a:rPr>
              <a:t>삼성</a:t>
            </a:r>
            <a:r>
              <a:rPr lang="en-US" altLang="ko-KR" sz="1050" b="0" dirty="0">
                <a:effectLst/>
                <a:latin typeface="+mn-ea"/>
              </a:rPr>
              <a:t>"]:</a:t>
            </a:r>
            <a:endParaRPr lang="ko-KR" altLang="en-US" sz="1050" b="0" dirty="0">
              <a:effectLst/>
              <a:latin typeface="+mn-ea"/>
            </a:endParaRPr>
          </a:p>
          <a:p>
            <a:r>
              <a:rPr lang="ko-KR" altLang="en-US" sz="1050" b="0" dirty="0">
                <a:effectLst/>
                <a:latin typeface="+mn-ea"/>
              </a:rPr>
              <a:t>    </a:t>
            </a:r>
            <a:r>
              <a:rPr lang="en-US" altLang="ko-KR" sz="1050" b="0" dirty="0" err="1">
                <a:effectLst/>
                <a:latin typeface="+mn-ea"/>
              </a:rPr>
              <a:t>Team_score</a:t>
            </a:r>
            <a:r>
              <a:rPr lang="en-US" altLang="ko-KR" sz="1050" b="0" dirty="0">
                <a:effectLst/>
                <a:latin typeface="+mn-ea"/>
              </a:rPr>
              <a:t>[x] +=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6ADA39-C976-2147-A65B-60B53EEDE5C6}"/>
              </a:ext>
            </a:extLst>
          </p:cNvPr>
          <p:cNvSpPr txBox="1"/>
          <p:nvPr/>
        </p:nvSpPr>
        <p:spPr>
          <a:xfrm>
            <a:off x="838200" y="4173227"/>
            <a:ext cx="608434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#</a:t>
            </a:r>
            <a:r>
              <a:rPr lang="ko-KR" altLang="en-US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결론 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– </a:t>
            </a:r>
            <a:r>
              <a:rPr lang="ko-KR" altLang="en-US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위 과정에서 부여한 점수를 기준으로 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Top 3 </a:t>
            </a:r>
            <a:r>
              <a:rPr lang="ko-KR" altLang="en-US" sz="1400" b="1" dirty="0">
                <a:solidFill>
                  <a:srgbClr val="FF0000"/>
                </a:solidFill>
                <a:effectLst/>
                <a:latin typeface="+mj-lt"/>
                <a:ea typeface="나눔스퀘어라운드OTF Bold" panose="020B0600000101010101" pitchFamily="34" charset="-127"/>
              </a:rPr>
              <a:t>추천 리스트 추출</a:t>
            </a:r>
            <a:endParaRPr lang="en-US" altLang="ko-KR" sz="1400" b="1" dirty="0">
              <a:solidFill>
                <a:srgbClr val="FF0000"/>
              </a:solidFill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sorted_scores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= sorted(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Team_score.items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(), key=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itemgetter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(1), reverse=True)</a:t>
            </a:r>
          </a:p>
          <a:p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top_n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= 3</a:t>
            </a:r>
          </a:p>
          <a:p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top_scores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 =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sorted_scores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[: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top_n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]</a:t>
            </a:r>
          </a:p>
          <a:p>
            <a:b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</a:b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print("</a:t>
            </a:r>
            <a:r>
              <a:rPr lang="ko-KR" altLang="en-US" sz="1050" b="0" dirty="0">
                <a:effectLst/>
                <a:latin typeface="+mj-lt"/>
                <a:ea typeface="나눔스퀘어라운드OTF Bold" panose="020B0600000101010101" pitchFamily="34" charset="-127"/>
              </a:rPr>
              <a:t>팀 추천 리스트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")</a:t>
            </a:r>
            <a:endParaRPr lang="ko-KR" altLang="en-US" sz="1050" b="0" dirty="0">
              <a:effectLst/>
              <a:latin typeface="+mj-lt"/>
              <a:ea typeface="나눔스퀘어라운드OTF Bold" panose="020B0600000101010101" pitchFamily="34" charset="-127"/>
            </a:endParaRPr>
          </a:p>
          <a:p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for name, score in </a:t>
            </a:r>
            <a:r>
              <a:rPr lang="en-US" altLang="ko-KR" sz="1050" b="0" dirty="0" err="1">
                <a:effectLst/>
                <a:latin typeface="+mj-lt"/>
                <a:ea typeface="나눔스퀘어라운드OTF Bold" panose="020B0600000101010101" pitchFamily="34" charset="-127"/>
              </a:rPr>
              <a:t>top_scores</a:t>
            </a:r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:</a:t>
            </a:r>
          </a:p>
          <a:p>
            <a:r>
              <a:rPr lang="en-US" altLang="ko-KR" sz="1050" b="0" dirty="0">
                <a:effectLst/>
                <a:latin typeface="+mj-lt"/>
                <a:ea typeface="나눔스퀘어라운드OTF Bold" panose="020B0600000101010101" pitchFamily="34" charset="-127"/>
              </a:rPr>
              <a:t>    print("{}".format(name),end=' ')</a:t>
            </a:r>
          </a:p>
          <a:p>
            <a:endParaRPr lang="ko-KR" altLang="en-US" sz="1200" dirty="0">
              <a:latin typeface="+mj-lt"/>
              <a:ea typeface="나눔스퀘어라운드OTF Bold" panose="020B0600000101010101" pitchFamily="34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3F0D8C4-868A-4EBB-BC84-B28C6260E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0415" y="5065779"/>
            <a:ext cx="5824691" cy="526781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76703D76-7A84-7743-CFCE-440C32838E1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/>
              <a:t>3-2. </a:t>
            </a:r>
            <a:r>
              <a:rPr lang="ko-KR" altLang="en-US" sz="4000" b="1" dirty="0"/>
              <a:t>활용 분석</a:t>
            </a:r>
          </a:p>
        </p:txBody>
      </p:sp>
    </p:spTree>
    <p:extLst>
      <p:ext uri="{BB962C8B-B14F-4D97-AF65-F5344CB8AC3E}">
        <p14:creationId xmlns:p14="http://schemas.microsoft.com/office/powerpoint/2010/main" val="9575531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D4EE0F3-7BF6-D571-4C37-C58B133A94BF}"/>
              </a:ext>
            </a:extLst>
          </p:cNvPr>
          <p:cNvSpPr txBox="1">
            <a:spLocks/>
          </p:cNvSpPr>
          <p:nvPr/>
        </p:nvSpPr>
        <p:spPr>
          <a:xfrm>
            <a:off x="838200" y="5897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/>
              <a:t>3-3. </a:t>
            </a:r>
            <a:r>
              <a:rPr lang="ko-KR" altLang="en-US" sz="4000" b="1" dirty="0"/>
              <a:t>분석 결과</a:t>
            </a:r>
          </a:p>
          <a:p>
            <a:endParaRPr lang="ko-KR" altLang="en-US" sz="40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426A9FD-6759-4082-250F-70730C2D5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369" y="1757924"/>
            <a:ext cx="8086907" cy="31470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470F7F2-0380-9831-E057-787D68F96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368" y="3663460"/>
            <a:ext cx="9319835" cy="46990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099577A-1823-4A97-47EF-C6A33FD36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4368" y="4260038"/>
            <a:ext cx="7219164" cy="35568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4247726-22B9-51CE-E17B-FBAB67A27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954" y="5402009"/>
            <a:ext cx="3932906" cy="355689"/>
          </a:xfrm>
          <a:prstGeom prst="rect">
            <a:avLst/>
          </a:prstGeom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B129B062-7E1D-39FA-38B8-4A604591EEAE}"/>
              </a:ext>
            </a:extLst>
          </p:cNvPr>
          <p:cNvSpPr txBox="1">
            <a:spLocks/>
          </p:cNvSpPr>
          <p:nvPr/>
        </p:nvSpPr>
        <p:spPr>
          <a:xfrm>
            <a:off x="838200" y="4581115"/>
            <a:ext cx="10515600" cy="6776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000" b="1" dirty="0"/>
              <a:t>결론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CBC513-CE5B-4CBE-3421-5D789C77479E}"/>
              </a:ext>
            </a:extLst>
          </p:cNvPr>
          <p:cNvSpPr txBox="1"/>
          <p:nvPr/>
        </p:nvSpPr>
        <p:spPr>
          <a:xfrm>
            <a:off x="936955" y="1507685"/>
            <a:ext cx="1461514" cy="2689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 fontAlgn="base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n-ea"/>
              </a:rPr>
              <a:t>1) </a:t>
            </a:r>
            <a:r>
              <a:rPr lang="ko-KR" altLang="en-US" sz="1400" b="1" kern="0" spc="0" dirty="0">
                <a:solidFill>
                  <a:srgbClr val="000000"/>
                </a:solidFill>
                <a:effectLst/>
                <a:latin typeface="+mn-ea"/>
              </a:rPr>
              <a:t>지역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</a:rPr>
              <a:t> </a:t>
            </a:r>
            <a:endParaRPr lang="en-US" altLang="ko-KR" sz="1400" b="1" kern="0" dirty="0">
              <a:solidFill>
                <a:srgbClr val="000000"/>
              </a:solidFill>
              <a:latin typeface="+mn-ea"/>
            </a:endParaRPr>
          </a:p>
          <a:p>
            <a:pPr marR="0" algn="just" fontAlgn="base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n-ea"/>
              </a:rPr>
              <a:t>2) </a:t>
            </a:r>
            <a:r>
              <a:rPr lang="ko-KR" altLang="en-US" sz="1400" b="1" kern="0" spc="0" dirty="0">
                <a:solidFill>
                  <a:srgbClr val="000000"/>
                </a:solidFill>
                <a:effectLst/>
                <a:latin typeface="+mn-ea"/>
              </a:rPr>
              <a:t>우승팀 </a:t>
            </a:r>
            <a:endParaRPr lang="en-US" altLang="ko-KR" sz="1400" b="1" kern="0" dirty="0">
              <a:solidFill>
                <a:srgbClr val="000000"/>
              </a:solidFill>
              <a:latin typeface="+mn-ea"/>
            </a:endParaRPr>
          </a:p>
          <a:p>
            <a:pPr marR="0" algn="just" fontAlgn="base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n-ea"/>
              </a:rPr>
              <a:t>3) </a:t>
            </a:r>
            <a:r>
              <a:rPr lang="ko-KR" altLang="en-US" sz="1400" b="1" kern="0" spc="0" dirty="0">
                <a:solidFill>
                  <a:srgbClr val="000000"/>
                </a:solidFill>
                <a:effectLst/>
                <a:latin typeface="+mn-ea"/>
              </a:rPr>
              <a:t>선수 능력치</a:t>
            </a:r>
            <a:endParaRPr lang="en-US" altLang="ko-KR" sz="1400" b="1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R="0" algn="just" fontAlgn="base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n-ea"/>
              </a:rPr>
              <a:t>4) </a:t>
            </a:r>
            <a:r>
              <a:rPr lang="ko-KR" altLang="en-US" sz="1400" b="1" kern="0" spc="0" dirty="0">
                <a:solidFill>
                  <a:srgbClr val="000000"/>
                </a:solidFill>
                <a:effectLst/>
                <a:latin typeface="+mn-ea"/>
              </a:rPr>
              <a:t>선수 유명세 </a:t>
            </a:r>
            <a:endParaRPr lang="en-US" altLang="ko-KR" sz="1400" b="1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R="0" algn="just" fontAlgn="base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dirty="0">
                <a:solidFill>
                  <a:srgbClr val="000000"/>
                </a:solidFill>
                <a:latin typeface="+mn-ea"/>
              </a:rPr>
              <a:t>5</a:t>
            </a: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n-ea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</a:rPr>
              <a:t>팀</a:t>
            </a:r>
            <a:r>
              <a:rPr lang="ko-KR" altLang="en-US" sz="1400" b="1" kern="0" spc="0" dirty="0">
                <a:solidFill>
                  <a:srgbClr val="000000"/>
                </a:solidFill>
                <a:effectLst/>
                <a:latin typeface="+mn-ea"/>
              </a:rPr>
              <a:t> 성향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5B9F80-AE86-6330-9E68-449655E411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4368" y="2144923"/>
            <a:ext cx="5544700" cy="37045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6BB16AD-7459-4197-7D66-A79D97BC5A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4369" y="2653580"/>
            <a:ext cx="9156968" cy="21172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8E9AC89-0D3F-2ED6-E589-1B3EBA450B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4368" y="2957332"/>
            <a:ext cx="6385784" cy="646274"/>
          </a:xfrm>
          <a:prstGeom prst="rect">
            <a:avLst/>
          </a:prstGeom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E0962A29-D165-EFFF-6A97-239F34D65E02}"/>
              </a:ext>
            </a:extLst>
          </p:cNvPr>
          <p:cNvSpPr/>
          <p:nvPr/>
        </p:nvSpPr>
        <p:spPr>
          <a:xfrm>
            <a:off x="9053565" y="2957332"/>
            <a:ext cx="411982" cy="2117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CFEEFCAF-FEE2-6FF2-6616-9BBC238E79C7}"/>
              </a:ext>
            </a:extLst>
          </p:cNvPr>
          <p:cNvSpPr/>
          <p:nvPr/>
        </p:nvSpPr>
        <p:spPr>
          <a:xfrm>
            <a:off x="9053565" y="3169054"/>
            <a:ext cx="411982" cy="2117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F0A4E671-268D-C891-8784-70FEE5692A65}"/>
              </a:ext>
            </a:extLst>
          </p:cNvPr>
          <p:cNvSpPr/>
          <p:nvPr/>
        </p:nvSpPr>
        <p:spPr>
          <a:xfrm>
            <a:off x="9053565" y="3369410"/>
            <a:ext cx="411982" cy="2117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1861FB-C131-201B-37EE-B967130D15BE}"/>
              </a:ext>
            </a:extLst>
          </p:cNvPr>
          <p:cNvSpPr txBox="1"/>
          <p:nvPr/>
        </p:nvSpPr>
        <p:spPr>
          <a:xfrm>
            <a:off x="9518766" y="2905583"/>
            <a:ext cx="14615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타격</a:t>
            </a:r>
            <a:endParaRPr lang="en-US" altLang="ko-KR" sz="1400" dirty="0"/>
          </a:p>
          <a:p>
            <a:r>
              <a:rPr lang="ko-KR" altLang="en-US" sz="1400" dirty="0"/>
              <a:t>수비</a:t>
            </a:r>
            <a:endParaRPr lang="en-US" altLang="ko-KR" sz="1400" dirty="0"/>
          </a:p>
          <a:p>
            <a:r>
              <a:rPr lang="ko-KR" altLang="en-US" sz="1400" dirty="0"/>
              <a:t>투수</a:t>
            </a:r>
          </a:p>
        </p:txBody>
      </p:sp>
    </p:spTree>
    <p:extLst>
      <p:ext uri="{BB962C8B-B14F-4D97-AF65-F5344CB8AC3E}">
        <p14:creationId xmlns:p14="http://schemas.microsoft.com/office/powerpoint/2010/main" val="13088862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8DA3C66A-83D4-E1DC-D055-C4D1C7FDAEFF}"/>
              </a:ext>
            </a:extLst>
          </p:cNvPr>
          <p:cNvSpPr txBox="1">
            <a:spLocks/>
          </p:cNvSpPr>
          <p:nvPr/>
        </p:nvSpPr>
        <p:spPr>
          <a:xfrm>
            <a:off x="838200" y="5897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/>
              <a:t>3-3. </a:t>
            </a:r>
            <a:r>
              <a:rPr lang="ko-KR" altLang="en-US" sz="4000" b="1" dirty="0"/>
              <a:t>분석 결과 예시</a:t>
            </a:r>
          </a:p>
          <a:p>
            <a:endParaRPr lang="ko-KR" altLang="en-US" sz="4000" b="1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F065918-2566-40D9-4AA4-A7AB12FA8A02}"/>
              </a:ext>
            </a:extLst>
          </p:cNvPr>
          <p:cNvGrpSpPr/>
          <p:nvPr/>
        </p:nvGrpSpPr>
        <p:grpSpPr>
          <a:xfrm>
            <a:off x="838200" y="1915276"/>
            <a:ext cx="9577954" cy="3939757"/>
            <a:chOff x="1307023" y="1306286"/>
            <a:chExt cx="9577954" cy="3939757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09D07162-B7C0-9191-3F4C-92B32DF38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8451" y="1358655"/>
              <a:ext cx="4876526" cy="3242087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41185CE-1063-4BC8-FD53-D25F3A8992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562" t="22838"/>
            <a:stretch/>
          </p:blipFill>
          <p:spPr>
            <a:xfrm>
              <a:off x="1307023" y="2441900"/>
              <a:ext cx="9577954" cy="2804143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CCD6945-D44E-9F54-4D31-C82E395D9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07023" y="2119612"/>
              <a:ext cx="9156968" cy="322288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676C9265-1D5D-0277-F4D1-1F2EA41CE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07023" y="1628574"/>
              <a:ext cx="4701428" cy="491038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056D6CB-DFC3-E44A-6446-5A3AA9297D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562" t="331" b="90800"/>
            <a:stretch/>
          </p:blipFill>
          <p:spPr>
            <a:xfrm>
              <a:off x="1307023" y="1306286"/>
              <a:ext cx="9577954" cy="3222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32870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F7F76E7-DA40-BC4D-D76B-9AF844DFF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ko-KR" b="1" dirty="0"/>
              <a:t>4. </a:t>
            </a:r>
            <a:r>
              <a:rPr lang="ko-KR" altLang="en-US" b="1" dirty="0"/>
              <a:t>서비스 활용방안 및 기대효과</a:t>
            </a:r>
          </a:p>
        </p:txBody>
      </p:sp>
    </p:spTree>
    <p:extLst>
      <p:ext uri="{BB962C8B-B14F-4D97-AF65-F5344CB8AC3E}">
        <p14:creationId xmlns:p14="http://schemas.microsoft.com/office/powerpoint/2010/main" val="35797356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52EEC0D4-AD0F-54AE-9BDC-CAB4DC3FA6D6}"/>
              </a:ext>
            </a:extLst>
          </p:cNvPr>
          <p:cNvSpPr txBox="1">
            <a:spLocks/>
          </p:cNvSpPr>
          <p:nvPr/>
        </p:nvSpPr>
        <p:spPr>
          <a:xfrm>
            <a:off x="838200" y="5897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/>
              <a:t>4. </a:t>
            </a:r>
            <a:r>
              <a:rPr lang="ko-KR" altLang="en-US" sz="4000" b="1" dirty="0"/>
              <a:t>서비스 활용방안 및 기대효과</a:t>
            </a:r>
          </a:p>
          <a:p>
            <a:endParaRPr lang="ko-KR" altLang="en-US" sz="4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552628-4E89-2A61-B10F-33DD43CD469F}"/>
              </a:ext>
            </a:extLst>
          </p:cNvPr>
          <p:cNvSpPr txBox="1"/>
          <p:nvPr/>
        </p:nvSpPr>
        <p:spPr>
          <a:xfrm>
            <a:off x="1707307" y="2622049"/>
            <a:ext cx="8709312" cy="2627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500" kern="0" spc="0" dirty="0">
                <a:solidFill>
                  <a:srgbClr val="000000"/>
                </a:solidFill>
                <a:effectLst/>
                <a:latin typeface="+mn-ea"/>
              </a:rPr>
              <a:t>야구 팀에 대해 잘 알지 못하거나</a:t>
            </a:r>
            <a:r>
              <a:rPr lang="en-US" altLang="ko-KR" sz="1500" kern="0" spc="0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ko-KR" altLang="en-US" sz="1500" kern="0" spc="0" dirty="0">
                <a:solidFill>
                  <a:srgbClr val="000000"/>
                </a:solidFill>
                <a:effectLst/>
                <a:latin typeface="+mn-ea"/>
              </a:rPr>
              <a:t>혹은 팀을 바꾸고 싶은 사람들에게 </a:t>
            </a:r>
            <a:r>
              <a:rPr lang="en-US" altLang="ko-KR" sz="15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500" kern="0" spc="0" dirty="0">
                <a:solidFill>
                  <a:srgbClr val="000000"/>
                </a:solidFill>
                <a:effectLst/>
                <a:latin typeface="+mn-ea"/>
              </a:rPr>
              <a:t>추천할 수 있는 서비스이다</a:t>
            </a:r>
            <a:r>
              <a:rPr lang="en-US" altLang="ko-KR" sz="1500" kern="0" spc="0" dirty="0">
                <a:solidFill>
                  <a:srgbClr val="000000"/>
                </a:solidFill>
                <a:effectLst/>
                <a:latin typeface="+mn-ea"/>
              </a:rPr>
              <a:t>. 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5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500" kern="0" spc="0" dirty="0">
                <a:solidFill>
                  <a:srgbClr val="000000"/>
                </a:solidFill>
                <a:effectLst/>
                <a:latin typeface="+mn-ea"/>
              </a:rPr>
              <a:t>사용자의 키워드별 선택</a:t>
            </a:r>
            <a:r>
              <a:rPr lang="en-US" altLang="ko-KR" sz="1500" kern="0" spc="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sz="1500" kern="0" spc="0" dirty="0">
                <a:solidFill>
                  <a:srgbClr val="000000"/>
                </a:solidFill>
                <a:effectLst/>
                <a:latin typeface="+mn-ea"/>
              </a:rPr>
              <a:t>경험</a:t>
            </a:r>
            <a:r>
              <a:rPr lang="en-US" altLang="ko-KR" sz="1500" kern="0" spc="0" dirty="0">
                <a:solidFill>
                  <a:srgbClr val="000000"/>
                </a:solidFill>
                <a:effectLst/>
                <a:latin typeface="+mn-ea"/>
              </a:rPr>
              <a:t>)</a:t>
            </a:r>
            <a:r>
              <a:rPr lang="ko-KR" altLang="en-US" sz="1500" kern="0" spc="0" dirty="0">
                <a:solidFill>
                  <a:srgbClr val="000000"/>
                </a:solidFill>
                <a:effectLst/>
                <a:latin typeface="+mn-ea"/>
              </a:rPr>
              <a:t>을 통해 팀을 추천해주므로</a:t>
            </a:r>
            <a:r>
              <a:rPr lang="en-US" altLang="ko-KR" sz="1500" kern="0" spc="0" dirty="0">
                <a:solidFill>
                  <a:srgbClr val="000000"/>
                </a:solidFill>
                <a:effectLst/>
                <a:latin typeface="+mn-ea"/>
              </a:rPr>
              <a:t>,</a:t>
            </a:r>
            <a:r>
              <a:rPr lang="ko-KR" altLang="en-US" sz="1500" kern="0" spc="0" dirty="0">
                <a:solidFill>
                  <a:srgbClr val="000000"/>
                </a:solidFill>
                <a:effectLst/>
                <a:latin typeface="+mn-ea"/>
              </a:rPr>
              <a:t> 야구데이터의 분석을 통해 막막하게만 </a:t>
            </a:r>
            <a:endParaRPr lang="en-US" altLang="ko-KR" sz="15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500" kern="0" spc="0" dirty="0">
                <a:solidFill>
                  <a:srgbClr val="000000"/>
                </a:solidFill>
                <a:effectLst/>
                <a:latin typeface="+mn-ea"/>
              </a:rPr>
              <a:t>느껴졌던 응원 팀 선택에 도움을 줄 수 있을 것으로 보인다</a:t>
            </a:r>
            <a:r>
              <a:rPr lang="en-US" altLang="ko-KR" sz="1500" kern="0" spc="0" dirty="0">
                <a:solidFill>
                  <a:srgbClr val="000000"/>
                </a:solidFill>
                <a:effectLst/>
                <a:latin typeface="+mn-ea"/>
              </a:rPr>
              <a:t>. 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5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500" kern="0" dirty="0">
                <a:solidFill>
                  <a:srgbClr val="000000"/>
                </a:solidFill>
                <a:latin typeface="+mn-ea"/>
              </a:rPr>
              <a:t>그 외에도</a:t>
            </a:r>
            <a:r>
              <a:rPr lang="en-US" altLang="ko-KR" sz="15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500" kern="0" dirty="0">
                <a:solidFill>
                  <a:srgbClr val="000000"/>
                </a:solidFill>
                <a:latin typeface="+mn-ea"/>
              </a:rPr>
              <a:t>키워드로 선택한 적합도가 높은 상위 </a:t>
            </a:r>
            <a:r>
              <a:rPr lang="en-US" altLang="ko-KR" sz="1500" kern="0" dirty="0">
                <a:solidFill>
                  <a:srgbClr val="000000"/>
                </a:solidFill>
                <a:latin typeface="+mn-ea"/>
              </a:rPr>
              <a:t>3</a:t>
            </a:r>
            <a:r>
              <a:rPr lang="ko-KR" altLang="en-US" sz="1500" kern="0" dirty="0">
                <a:solidFill>
                  <a:srgbClr val="000000"/>
                </a:solidFill>
                <a:latin typeface="+mn-ea"/>
              </a:rPr>
              <a:t>팀을 추천해주기 때문에</a:t>
            </a:r>
            <a:r>
              <a:rPr lang="en-US" altLang="ko-KR" sz="15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500" kern="0" dirty="0">
                <a:solidFill>
                  <a:srgbClr val="000000"/>
                </a:solidFill>
                <a:latin typeface="+mn-ea"/>
              </a:rPr>
              <a:t>야구 팀에 대한 시각을 넓히고 넓은 경험을 할 수 있게 도울 것으로 보인다</a:t>
            </a:r>
            <a:r>
              <a:rPr lang="en-US" altLang="ko-KR" sz="1500" kern="0" dirty="0">
                <a:solidFill>
                  <a:srgbClr val="000000"/>
                </a:solidFill>
                <a:latin typeface="+mn-ea"/>
              </a:rPr>
              <a:t>.</a:t>
            </a:r>
            <a:endParaRPr lang="ko-KR" altLang="en-US" sz="1500" kern="0" spc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868027-982D-F6D2-FEE9-F909FB91F7BA}"/>
              </a:ext>
            </a:extLst>
          </p:cNvPr>
          <p:cNvSpPr txBox="1"/>
          <p:nvPr/>
        </p:nvSpPr>
        <p:spPr>
          <a:xfrm>
            <a:off x="1038636" y="1693289"/>
            <a:ext cx="4454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accent2"/>
                </a:solidFill>
              </a:rPr>
              <a:t>KBO </a:t>
            </a:r>
            <a:r>
              <a:rPr lang="ko-KR" altLang="en-US" sz="2800" b="1" dirty="0">
                <a:solidFill>
                  <a:schemeClr val="accent2"/>
                </a:solidFill>
              </a:rPr>
              <a:t>팀 추천 시스템</a:t>
            </a:r>
            <a:endParaRPr lang="en-US" altLang="ko-KR" sz="2800" b="1" dirty="0"/>
          </a:p>
        </p:txBody>
      </p:sp>
      <p:pic>
        <p:nvPicPr>
          <p:cNvPr id="15" name="그래픽 14" descr="야구 배트 및 공 단색으로 채워진">
            <a:extLst>
              <a:ext uri="{FF2B5EF4-FFF2-40B4-BE49-F238E27FC236}">
                <a16:creationId xmlns:a16="http://schemas.microsoft.com/office/drawing/2014/main" id="{E91950DF-62B8-FD0B-2E69-9BB54BF913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48548" y="1570985"/>
            <a:ext cx="914400" cy="914400"/>
          </a:xfrm>
          <a:prstGeom prst="rect">
            <a:avLst/>
          </a:prstGeom>
        </p:spPr>
      </p:pic>
      <p:pic>
        <p:nvPicPr>
          <p:cNvPr id="17" name="그래픽 16" descr="야구 모자 단색으로 채워진">
            <a:extLst>
              <a:ext uri="{FF2B5EF4-FFF2-40B4-BE49-F238E27FC236}">
                <a16:creationId xmlns:a16="http://schemas.microsoft.com/office/drawing/2014/main" id="{FCDCE31F-3958-A3BD-F59B-C326975E67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998725" flipH="1">
            <a:off x="10106143" y="5200546"/>
            <a:ext cx="1239208" cy="123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358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826379-8D11-0821-8ECD-63DD96DDE826}"/>
              </a:ext>
            </a:extLst>
          </p:cNvPr>
          <p:cNvSpPr txBox="1">
            <a:spLocks/>
          </p:cNvSpPr>
          <p:nvPr/>
        </p:nvSpPr>
        <p:spPr>
          <a:xfrm>
            <a:off x="838200" y="5897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/>
              <a:t>+)</a:t>
            </a:r>
            <a:r>
              <a:rPr lang="ko-KR" altLang="en-US" sz="4000" b="1" dirty="0"/>
              <a:t>용어 설명</a:t>
            </a:r>
          </a:p>
          <a:p>
            <a:endParaRPr lang="ko-KR" altLang="en-US" sz="4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5166ED-AB48-9DA7-C70B-7FFA9D8A5911}"/>
              </a:ext>
            </a:extLst>
          </p:cNvPr>
          <p:cNvSpPr txBox="1"/>
          <p:nvPr/>
        </p:nvSpPr>
        <p:spPr>
          <a:xfrm>
            <a:off x="1329544" y="1969291"/>
            <a:ext cx="4695334" cy="4463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spc="0" dirty="0">
                <a:solidFill>
                  <a:srgbClr val="000000"/>
                </a:solidFill>
                <a:effectLst/>
                <a:latin typeface="+mn-ea"/>
              </a:rPr>
              <a:t>1B - 1</a:t>
            </a:r>
            <a:r>
              <a:rPr lang="ko-KR" altLang="en-US" kern="0" spc="0" dirty="0" err="1">
                <a:solidFill>
                  <a:srgbClr val="000000"/>
                </a:solidFill>
                <a:effectLst/>
                <a:latin typeface="+mn-ea"/>
              </a:rPr>
              <a:t>루수</a:t>
            </a:r>
            <a:endParaRPr lang="ko-KR" altLang="en-US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spc="0" dirty="0">
                <a:solidFill>
                  <a:srgbClr val="000000"/>
                </a:solidFill>
                <a:effectLst/>
                <a:latin typeface="+mn-ea"/>
              </a:rPr>
              <a:t>2B - 2</a:t>
            </a:r>
            <a:r>
              <a:rPr lang="ko-KR" altLang="en-US" kern="0" spc="0" dirty="0" err="1">
                <a:solidFill>
                  <a:srgbClr val="000000"/>
                </a:solidFill>
                <a:effectLst/>
                <a:latin typeface="+mn-ea"/>
              </a:rPr>
              <a:t>루수</a:t>
            </a:r>
            <a:endParaRPr lang="ko-KR" altLang="en-US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spc="0" dirty="0">
                <a:solidFill>
                  <a:srgbClr val="000000"/>
                </a:solidFill>
                <a:effectLst/>
                <a:latin typeface="+mn-ea"/>
              </a:rPr>
              <a:t>3B - 3</a:t>
            </a:r>
            <a:r>
              <a:rPr lang="ko-KR" altLang="en-US" kern="0" spc="0" dirty="0" err="1">
                <a:solidFill>
                  <a:srgbClr val="000000"/>
                </a:solidFill>
                <a:effectLst/>
                <a:latin typeface="+mn-ea"/>
              </a:rPr>
              <a:t>루수</a:t>
            </a:r>
            <a:endParaRPr lang="ko-KR" altLang="en-US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spc="0" dirty="0">
                <a:solidFill>
                  <a:srgbClr val="000000"/>
                </a:solidFill>
                <a:effectLst/>
                <a:latin typeface="+mn-ea"/>
              </a:rPr>
              <a:t>SS -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+mn-ea"/>
              </a:rPr>
              <a:t>유격수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spc="0" dirty="0">
                <a:solidFill>
                  <a:srgbClr val="000000"/>
                </a:solidFill>
                <a:effectLst/>
                <a:latin typeface="+mn-ea"/>
              </a:rPr>
              <a:t>CF -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+mn-ea"/>
              </a:rPr>
              <a:t>중견수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spc="0" dirty="0">
                <a:solidFill>
                  <a:srgbClr val="000000"/>
                </a:solidFill>
                <a:effectLst/>
                <a:latin typeface="+mn-ea"/>
              </a:rPr>
              <a:t>RF -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+mn-ea"/>
              </a:rPr>
              <a:t>우익수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spc="0" dirty="0">
                <a:solidFill>
                  <a:srgbClr val="000000"/>
                </a:solidFill>
                <a:effectLst/>
                <a:latin typeface="+mn-ea"/>
              </a:rPr>
              <a:t>LF -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+mn-ea"/>
              </a:rPr>
              <a:t>좌익수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spc="0" dirty="0">
                <a:solidFill>
                  <a:srgbClr val="000000"/>
                </a:solidFill>
                <a:effectLst/>
                <a:latin typeface="+mn-ea"/>
              </a:rPr>
              <a:t>DH -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+mn-ea"/>
              </a:rPr>
              <a:t>지명타자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spc="0" dirty="0">
                <a:solidFill>
                  <a:srgbClr val="000000"/>
                </a:solidFill>
                <a:effectLst/>
                <a:latin typeface="+mn-ea"/>
              </a:rPr>
              <a:t>C -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+mn-ea"/>
              </a:rPr>
              <a:t>포수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spc="0" dirty="0">
                <a:solidFill>
                  <a:srgbClr val="000000"/>
                </a:solidFill>
                <a:effectLst/>
                <a:latin typeface="+mn-ea"/>
              </a:rPr>
              <a:t>P -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+mn-ea"/>
              </a:rPr>
              <a:t>투수</a:t>
            </a:r>
            <a:endParaRPr lang="en-US" altLang="ko-KR" kern="0" spc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263F0F-BBFB-C529-5E57-9DBF66A59225}"/>
              </a:ext>
            </a:extLst>
          </p:cNvPr>
          <p:cNvSpPr txBox="1"/>
          <p:nvPr/>
        </p:nvSpPr>
        <p:spPr>
          <a:xfrm>
            <a:off x="1329544" y="1473971"/>
            <a:ext cx="4454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accent2"/>
                </a:solidFill>
              </a:rPr>
              <a:t>포지션 용어</a:t>
            </a:r>
            <a:endParaRPr lang="en-US" altLang="ko-KR" sz="24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11C4271-C0C6-3245-88DA-4AA37720A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04803"/>
            <a:ext cx="5085070" cy="397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5572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935F70-716B-9A1B-F294-03C0D0C62FB4}"/>
              </a:ext>
            </a:extLst>
          </p:cNvPr>
          <p:cNvSpPr txBox="1"/>
          <p:nvPr/>
        </p:nvSpPr>
        <p:spPr>
          <a:xfrm>
            <a:off x="6757184" y="141402"/>
            <a:ext cx="4626549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l" fontAlgn="base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-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타격 데이터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+mj-lt"/>
              <a:ea typeface="함초롬바탕" panose="02030604000101010101" pitchFamily="18" charset="-127"/>
            </a:endParaRPr>
          </a:p>
          <a:p>
            <a:pPr marR="0" algn="l" fontAlgn="base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순 이름 연도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WAR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경기 타석 타수 득점 안타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2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루타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3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루타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 홈런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루타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 타점 도루 도루실패 볼넷 사구 고의사구 삼진 병살 희생타 희생플라이 타율 출루 장타 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j-lt"/>
            </a:endParaRPr>
          </a:p>
          <a:p>
            <a:pPr marL="0" marR="0" indent="0" algn="l" fontAlgn="base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OPS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(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출루율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+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장타율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)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 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+mj-lt"/>
              <a:ea typeface="함초롬바탕" panose="02030604000101010101" pitchFamily="18" charset="-127"/>
            </a:endParaRPr>
          </a:p>
          <a:p>
            <a:pPr marL="0" marR="0" indent="0" algn="l" fontAlgn="base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+mj-lt"/>
                <a:ea typeface="함초롬바탕" panose="02030604000101010101" pitchFamily="18" charset="-127"/>
              </a:rPr>
              <a:t>-&gt;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Weighted On Base Average, (0.72*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고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4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제외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4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구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+0.75*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사구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+0.90*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단타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+0.92*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실출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+1.24*2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타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+1.56*3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타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+1.95*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홈런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)/(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타석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-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고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4),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출루율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 스케일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j-lt"/>
            </a:endParaRPr>
          </a:p>
          <a:p>
            <a:pPr marL="0" marR="0" indent="0" algn="l" fontAlgn="base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spc="0" dirty="0" err="1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wOBA</a:t>
            </a: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 – </a:t>
            </a:r>
            <a:r>
              <a:rPr lang="en-US" altLang="ko-KR" sz="1400" b="1" kern="0" spc="0" dirty="0" err="1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wRC</a:t>
            </a: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+</a:t>
            </a:r>
          </a:p>
          <a:p>
            <a:pPr marL="0" marR="0" indent="0" algn="l" fontAlgn="base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400" kern="0" spc="0" dirty="0">
              <a:solidFill>
                <a:srgbClr val="000000"/>
              </a:solidFill>
              <a:effectLst/>
              <a:latin typeface="+mj-lt"/>
            </a:endParaRPr>
          </a:p>
          <a:p>
            <a:pPr marR="0" algn="l" fontAlgn="base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-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투구 데이터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j-lt"/>
            </a:endParaRPr>
          </a:p>
          <a:p>
            <a:pPr marL="0" marR="0" indent="0" algn="l" fontAlgn="base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순 이름 팀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WAR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출장 완투 완봉 선발 승 패 세이브 홀드 이닝 실점 자책 타자 안타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2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루타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3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루타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 홈런 볼넷 고의사구 사구 삼진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보크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 폭투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j-lt"/>
            </a:endParaRPr>
          </a:p>
          <a:p>
            <a:pPr marL="0" marR="0" indent="0" algn="l" fontAlgn="base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ERA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–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자책점*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9 /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이닝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j-lt"/>
            </a:endParaRPr>
          </a:p>
          <a:p>
            <a:pPr marL="0" marR="0" indent="0" algn="l" fontAlgn="base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FIP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 -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수비 무관 추정 평균 자책점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= (13*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피홈런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+3*(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볼넷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-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고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4+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사구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)-2*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삼진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)/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이닝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+ C (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보통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3.20,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리그 방어율에 맞게 조정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) 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j-lt"/>
            </a:endParaRPr>
          </a:p>
          <a:p>
            <a:pPr marL="0" marR="0" indent="0" algn="l" fontAlgn="base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WHIP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 – (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볼넷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+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피안타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) /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이닝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j-lt"/>
            </a:endParaRPr>
          </a:p>
          <a:p>
            <a:pPr marL="0" marR="0" indent="0" algn="l" fontAlgn="base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ERA+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 / </a:t>
            </a: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FIP+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 / </a:t>
            </a: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WPA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 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j-lt"/>
            </a:endParaRPr>
          </a:p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endParaRPr lang="en-US" altLang="ko-KR" sz="1400" kern="0" spc="0" dirty="0"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2A9699-3E4D-61B8-29D5-6BBAD81C17D7}"/>
              </a:ext>
            </a:extLst>
          </p:cNvPr>
          <p:cNvSpPr txBox="1"/>
          <p:nvPr/>
        </p:nvSpPr>
        <p:spPr>
          <a:xfrm>
            <a:off x="386845" y="1084675"/>
            <a:ext cx="5033131" cy="4871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-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수비 데이터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j-lt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순 이름 팀 출장 선발 이닝 기회 자살 보살 실책 수비율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j-lt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spc="0" dirty="0" err="1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WAAwithADJ</a:t>
            </a:r>
            <a:endParaRPr lang="ko-KR" altLang="en-US" sz="1400" b="1" kern="0" spc="0" dirty="0">
              <a:solidFill>
                <a:srgbClr val="000000"/>
              </a:solidFill>
              <a:effectLst/>
              <a:latin typeface="+mj-lt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RF9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 – (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자살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+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보살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) / 9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이닝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j-lt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RNG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 –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수비 범위 관련 득점 기여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j-lt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ARM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 –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외야 추가 진루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/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보살 관련 득점 기여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j-lt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CS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 –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도루 저지 관련 득점 기여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j-lt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BLK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 –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블로킹 관련 득점 기여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j-lt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E+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-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기타 실책 관련 득점 기여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j-lt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RAA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 –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평균 대비 수비 득점 기여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j-lt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RAA_133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– RAA ( 133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경기 기준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)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j-lt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POSADJ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 –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포지션 조정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j-lt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spc="0" dirty="0" err="1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RAAwithADJ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 –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평균 대비 수비 득점 기여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(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포지션 조정 포함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)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j-lt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kern="0" spc="0" dirty="0" err="1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WAAw</a:t>
            </a: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/</a:t>
            </a:r>
            <a:r>
              <a:rPr lang="en-US" altLang="ko-KR" sz="1400" b="1" kern="0" spc="0" dirty="0" err="1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oADJ</a:t>
            </a: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-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평균 대비 수비 승리 기여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(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포지션 조정 제외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lt"/>
                <a:ea typeface="함초롬바탕" panose="02030604000101010101" pitchFamily="18" charset="-127"/>
              </a:rPr>
              <a:t>)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6DF63B-708D-5E6E-8E7F-85791EF99483}"/>
              </a:ext>
            </a:extLst>
          </p:cNvPr>
          <p:cNvSpPr txBox="1"/>
          <p:nvPr/>
        </p:nvSpPr>
        <p:spPr>
          <a:xfrm>
            <a:off x="386845" y="440583"/>
            <a:ext cx="4454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accent2"/>
                </a:solidFill>
              </a:rPr>
              <a:t>변수 용어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185287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</TotalTime>
  <Words>2989</Words>
  <Application>Microsoft Office PowerPoint</Application>
  <PresentationFormat>와이드스크린</PresentationFormat>
  <Paragraphs>706</Paragraphs>
  <Slides>35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0" baseType="lpstr">
      <vt:lpstr>맑은 고딕</vt:lpstr>
      <vt:lpstr>Arial</vt:lpstr>
      <vt:lpstr>Calibri</vt:lpstr>
      <vt:lpstr>Gigi</vt:lpstr>
      <vt:lpstr>Office 테마</vt:lpstr>
      <vt:lpstr>KBO분석 추천 시스템</vt:lpstr>
      <vt:lpstr>PowerPoint 프레젠테이션</vt:lpstr>
      <vt:lpstr>1. 추진배경</vt:lpstr>
      <vt:lpstr>1-1. 추진배경</vt:lpstr>
      <vt:lpstr>1-2. 계획&amp;연구목표</vt:lpstr>
      <vt:lpstr>야구 성적 데이터</vt:lpstr>
      <vt:lpstr>야구 성적 데이터</vt:lpstr>
      <vt:lpstr>각 키워드 별 데이터 할당</vt:lpstr>
      <vt:lpstr>각 키워드 별 데이터 할당 - 타격부분</vt:lpstr>
      <vt:lpstr>각 키워드 별 데이터 할당 - 수비부분</vt:lpstr>
      <vt:lpstr>각 키워드 별 데이터 할당 - 투수부분</vt:lpstr>
      <vt:lpstr>각 키워드 별 데이터 할당</vt:lpstr>
      <vt:lpstr>데이터 &amp; 키워드 통해 최종 추천 팀 도출</vt:lpstr>
      <vt:lpstr>1-3. 키워드</vt:lpstr>
      <vt:lpstr>2. 활용 데이터 및 데이터 처리방안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3. 시각화 및 분석 결과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4. 서비스 활용방안 및 기대효과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KBO분석 추천 시스템</dc:title>
  <dc:creator>이윤지</dc:creator>
  <cp:lastModifiedBy>hon121215@gmail.com</cp:lastModifiedBy>
  <cp:revision>57</cp:revision>
  <dcterms:created xsi:type="dcterms:W3CDTF">2023-08-28T09:06:15Z</dcterms:created>
  <dcterms:modified xsi:type="dcterms:W3CDTF">2023-08-30T09:37:00Z</dcterms:modified>
</cp:coreProperties>
</file>